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5"/>
  </p:notesMasterIdLst>
  <p:sldIdLst>
    <p:sldId id="271" r:id="rId4"/>
    <p:sldId id="27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2" r:id="rId16"/>
    <p:sldId id="267" r:id="rId17"/>
    <p:sldId id="266" r:id="rId18"/>
    <p:sldId id="26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4" userDrawn="1">
          <p15:clr>
            <a:srgbClr val="A4A3A4"/>
          </p15:clr>
        </p15:guide>
        <p15:guide id="2" pos="38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  <p:cmAuthor id="2" name="Administrator" initials="A" lastIdx="0" clrIdx="1"/>
  <p:cmAuthor id="3" name="Lenovo" initials="L" lastIdx="0" clrIdx="2"/>
  <p:cmAuthor id="4" name="PC" initials="P" lastIdx="0" clrIdx="3"/>
  <p:cmAuthor id="5" name="010358" initials="0" lastIdx="0" clrIdx="4"/>
  <p:cmAuthor id="6" name="刘彦彦" initials="刘" lastIdx="0" clrIdx="5"/>
  <p:cmAuthor id="7" name="bodor" initials="b" lastIdx="0" clrIdx="6"/>
  <p:cmAuthor id="8" name="011179" initials="0" lastIdx="0" clrIdx="7"/>
  <p:cmAuthor id="9" name="蒲欣" initials="蒲欣" lastIdx="0" clrIdx="8"/>
  <p:cmAuthor id="10" name="010356" initials="0" lastIdx="0" clrIdx="9"/>
  <p:cmAuthor id="11" name="冯 韬润" initials="冯" lastIdx="0" clrIdx="10"/>
  <p:cmAuthor id="12" name="李 佳琦" initials="李" lastIdx="0" clrIdx="11"/>
  <p:cmAuthor id="13" name="a15750834@outlook.com" initials="a" lastIdx="0" clrIdx="12"/>
  <p:cmAuthor id="14" name="Z Hugh" initials="ZH" lastIdx="0" clrIdx="13"/>
  <p:cmAuthor id="15" name="86152" initials="8" lastIdx="0" clrIdx="14"/>
  <p:cmAuthor id="16" name="lipei" initials="l" lastIdx="0" clrIdx="15"/>
  <p:cmAuthor id="17" name="王黎明" initials="王" lastIdx="0" clrIdx="16"/>
  <p:cmAuthor id="18" name="作者" initials="A" lastIdx="0" clrIdx="17"/>
  <p:cmAuthor id="19" name="李文超" initials="李文超" lastIdx="0" clrIdx="18"/>
  <p:cmAuthor id="20" name="张金柱" initials="张金柱" lastIdx="0" clrIdx="19"/>
  <p:cmAuthor id="21" name="bodor-2239" initials="b" lastIdx="0" clrIdx="20"/>
  <p:cmAuthor id="22" name="Sheng, Stanley CN ." initials="SSC." lastIdx="0" clrIdx="21"/>
  <p:cmAuthor id="23" name="未知用户1" initials="未知用户1" lastIdx="0" clrIdx="22"/>
  <p:cmAuthor id="24" name="Windows 用户" initials="W用" lastIdx="0" clrIdx="23"/>
  <p:cmAuthor id="25" name="田升" initials="田升" lastIdx="0" clrIdx="24"/>
  <p:cmAuthor id="26" name="杨东惠" initials="Grace" lastIdx="0" clrIdx="25"/>
  <p:cmAuthor id="27" name="4967" initials="4" lastIdx="0" clrIdx="26"/>
  <p:cmAuthor id="28" name="DELL" initials="D" lastIdx="0" clrIdx="27"/>
  <p:cmAuthor id="29" name="011324" initials="0" lastIdx="0" clrIdx="28"/>
  <p:cmAuthor id="30" name="9114" initials="9" lastIdx="0" clrIdx="29"/>
  <p:cmAuthor id="31" name="未知用户" initials="未" lastIdx="0" clrIdx="30"/>
  <p:cmAuthor id="32" name="zhang-xiao xiaofei" initials="zx" lastIdx="0" clrIdx="31"/>
  <p:cmAuthor id="33" name="沈珍发" initials="沈" lastIdx="0" clrIdx="32"/>
  <p:cmAuthor id="34" name="zyh" initials="z" lastIdx="0" clrIdx="33"/>
  <p:cmAuthor id="35" name="bodor-2082" initials="b" lastIdx="0" clrIdx="34"/>
  <p:cmAuthor id="36" name="012318" initials="0" lastIdx="0" clrIdx="35"/>
  <p:cmAuthor id="37" name="bodor-0270" initials="b" lastIdx="0" clrIdx="36"/>
  <p:cmAuthor id="38" name="bodor-2488" initials="b" lastIdx="0" clrIdx="37"/>
  <p:cmAuthor id="39" name="012125" initials="0" lastIdx="0" clrIdx="38"/>
  <p:cmAuthor id="40" name="Zhouxianwei" initials="Z" lastIdx="0" clrIdx="39"/>
  <p:cmAuthor id="41" name="文萍" initials="文萍" lastIdx="0" clrIdx="40"/>
  <p:cmAuthor id="42" name="华为" initials="华" lastIdx="0" clrIdx="41"/>
  <p:cmAuthor id="43" name="我在人间贩卖风景" initials="我" lastIdx="0" clrIdx="42"/>
  <p:cmAuthor id="44" name="gqshao" initials="g" lastIdx="0" clrIdx="43"/>
  <p:cmAuthor id="45" name="闫老师" initials="闫" lastIdx="0" clrIdx="44"/>
  <p:cmAuthor id="46" name=" " initials=" " lastIdx="0" clrIdx="45"/>
  <p:cmAuthor id="47" name="王囡囡" initials="王囡囡" lastIdx="0" clrIdx="46"/>
  <p:cmAuthor id="48" name="011870" initials="0" lastIdx="0" clrIdx="47"/>
  <p:cmAuthor id="49" name="November" initials="N" lastIdx="0" clrIdx="48"/>
  <p:cmAuthor id="50" name="011073" initials="0" lastIdx="0" clrIdx="49"/>
  <p:cmAuthor id="51" name="移缘追痉虏" initials="移" lastIdx="0" clrIdx="50"/>
  <p:cmAuthor id="52" name="张勃" initials="张勃" lastIdx="0" clrIdx="51"/>
  <p:cmAuthor id="53" name="曹莲莲" initials="曹莲莲" lastIdx="0" clrIdx="52"/>
  <p:cmAuthor id="54" name="董仪美" initials="董仪美" lastIdx="0" clrIdx="53"/>
  <p:cmAuthor id="55" name="bodor-2080" initials="b" lastIdx="0" clrIdx="54"/>
  <p:cmAuthor id="56" name="o" initials="o" lastIdx="0" clrIdx="55"/>
  <p:cmAuthor id="57" name="李亚云" initials="李亚云" lastIdx="0" clrIdx="56"/>
  <p:cmAuthor id="58" name="011657" initials="0" lastIdx="0" clrIdx="57"/>
  <p:cmAuthor id="59" name="User" initials="" lastIdx="0" clrIdx="58"/>
  <p:cmAuthor id="60" name="骆倩怡_Znauj26B" initials="authorId_382814100" lastIdx="0" clrIdx="59"/>
  <p:cmAuthor id="61" name="琦" initials="琦" lastIdx="0" clrIdx="60"/>
  <p:cmAuthor id="62" name="大云" initials="大" lastIdx="0" clrIdx="61"/>
  <p:cmAuthor id="63" name="路" initials="路" lastIdx="0" clrIdx="62"/>
  <p:cmAuthor id="64" name="李子木" initials="李" lastIdx="0" clrIdx="63"/>
  <p:cmAuthor id="65" name="WPS_1591245789" initials="W" lastIdx="0" clrIdx="64"/>
  <p:cmAuthor id="66" name="WPS_1679281038" initials="W" lastIdx="0" clrIdx="65"/>
  <p:cmAuthor id="67" name="王林宇" initials="王林宇" lastIdx="0" clrIdx="66"/>
  <p:cmAuthor id="68" name="应用工程" initials="应" lastIdx="0" clrIdx="67"/>
  <p:cmAuthor id="69" name="jiexizoe" initials="j" lastIdx="0" clrIdx="68"/>
  <p:cmAuthor id="70" name="8658" initials="8" lastIdx="0" clrIdx="69"/>
  <p:cmAuthor id="71" name="bodor-011227" initials="b" lastIdx="0" clrIdx="70"/>
  <p:cmAuthor id="72" name="是松果呀" initials="是" lastIdx="0" clrIdx="71"/>
  <p:cmAuthor id="73" name="李学峰" initials="李学峰" lastIdx="0" clrIdx="72"/>
  <p:cmAuthor id="74" name="010837" initials="0" lastIdx="0" clrIdx="73"/>
  <p:cmAuthor id="75" name="WPS_1725678304" initials="W" lastIdx="0" clrIdx="74"/>
  <p:cmAuthor id="76" name="WPS_1673495545" initials="W" lastIdx="0" clrIdx="75"/>
  <p:cmAuthor id="77" name="董玉辉" initials="董玉辉" lastIdx="0" clrIdx="76"/>
  <p:cmAuthor id="78" name="013556" initials="0" lastIdx="0" clrIdx="77"/>
  <p:cmAuthor id="79" name="王长新" initials="王长新" lastIdx="0" clrIdx="78"/>
  <p:cmAuthor id="80" name="吕祥通" initials="吕祥通" lastIdx="0" clrIdx="79"/>
  <p:cmAuthor id="81" name="宋 凯" initials="宋" lastIdx="0" clrIdx="80"/>
  <p:cmAuthor id="82" name="8594" initials="8" lastIdx="0" clrIdx="81"/>
  <p:cmAuthor id="83" name="4252" initials="4" lastIdx="0" clrIdx="82"/>
  <p:cmAuthor id="84" name="Bodor" initials="B" lastIdx="0" clrIdx="83"/>
  <p:cmAuthor id="85" name="1152" initials="ZY" lastIdx="0" clrIdx="84"/>
  <p:cmAuthor id="86" name="未知用户10" initials="未知用户10" lastIdx="0" clrIdx="85"/>
  <p:cmAuthor id="87" name="未知用户13" initials="未知用户13" lastIdx="0" clrIdx="86"/>
  <p:cmAuthor id="88" name="A" initials="A" lastIdx="0" clrIdx="87"/>
  <p:cmAuthor id="89" name="至幸" initials="至" lastIdx="0" clrIdx="88"/>
  <p:cmAuthor id="90" name="Bodor-产品" initials="小黑" lastIdx="0" clrIdx="89"/>
  <p:cmAuthor id="91" name="好好" initials="好" lastIdx="0" clrIdx="90"/>
  <p:cmAuthor id="92" name="未知用户14" initials="未知用户14" lastIdx="0" clrIdx="91"/>
  <p:cmAuthor id="93" name="未知用户15" initials="未知用户15" lastIdx="0" clrIdx="92"/>
  <p:cmAuthor id="94" name="刘 淑梅" initials="刘" lastIdx="0" clrIdx="93"/>
  <p:cmAuthor id="95" name="bodor-2412" initials="b" lastIdx="0" clrIdx="9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44"/>
        <p:guide pos="380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DA5E6917-FA75-004E-B07F-C0F243943A1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E6917-FA75-004E-B07F-C0F243943A1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DA5E6917-FA75-004E-B07F-C0F243943A1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临时性与周期性大规模触达</a:t>
            </a:r>
            <a:r>
              <a:rPr lang="zh-CN" altLang="en-US"/>
              <a:t>场景，批量转发</a:t>
            </a:r>
            <a:r>
              <a:rPr lang="zh-CN" altLang="en-US"/>
              <a:t>功能</a:t>
            </a:r>
            <a:endParaRPr lang="zh-CN" altLang="en-US"/>
          </a:p>
          <a:p>
            <a:r>
              <a:rPr lang="zh-CN" altLang="en-US"/>
              <a:t>精准点对点</a:t>
            </a:r>
            <a:r>
              <a:rPr lang="zh-CN" altLang="en-US"/>
              <a:t>沟通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DA5E6917-FA75-004E-B07F-C0F243943A1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二级正文-白板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0" y="506730"/>
            <a:ext cx="12204065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0" y="3175"/>
            <a:ext cx="171450" cy="504190"/>
          </a:xfrm>
          <a:prstGeom prst="rect">
            <a:avLst/>
          </a:prstGeom>
          <a:solidFill>
            <a:srgbClr val="FF4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kumimoji="1"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22" hasCustomPrompt="1"/>
          </p:nvPr>
        </p:nvSpPr>
        <p:spPr>
          <a:xfrm>
            <a:off x="353060" y="112395"/>
            <a:ext cx="388429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algn="l"/>
            <a:r>
              <a:rPr lang="zh-CN" altLang="en-US" b="1" dirty="0" smtClean="0">
                <a:cs typeface="+mj-ea"/>
                <a:sym typeface="+mn-ea"/>
              </a:rPr>
              <a:t>主标题内容</a:t>
            </a:r>
            <a:r>
              <a:rPr lang="en-US" altLang="zh-CN" b="1" dirty="0" smtClean="0">
                <a:cs typeface="+mj-ea"/>
                <a:sym typeface="+mn-ea"/>
              </a:rPr>
              <a:t>，</a:t>
            </a:r>
            <a:r>
              <a:rPr lang="zh-CN" altLang="en-US" b="1" dirty="0" smtClean="0">
                <a:cs typeface="+mj-ea"/>
                <a:sym typeface="+mn-ea"/>
              </a:rPr>
              <a:t>黑体</a:t>
            </a:r>
            <a:r>
              <a:rPr lang="en-US" altLang="zh-CN" b="1" dirty="0" smtClean="0">
                <a:cs typeface="+mj-ea"/>
                <a:sym typeface="+mn-ea"/>
              </a:rPr>
              <a:t>20</a:t>
            </a:r>
            <a:r>
              <a:rPr lang="zh-CN" altLang="en-US" b="1" dirty="0" smtClean="0">
                <a:cs typeface="+mj-ea"/>
                <a:sym typeface="+mn-ea"/>
              </a:rPr>
              <a:t>号</a:t>
            </a:r>
            <a:endParaRPr lang="zh-CN" altLang="en-US" b="1" dirty="0" smtClean="0">
              <a:cs typeface="+mj-ea"/>
              <a:sym typeface="+mn-ea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190" y="266669"/>
            <a:ext cx="858953" cy="318131"/>
          </a:xfrm>
          <a:prstGeom prst="rect">
            <a:avLst/>
          </a:prstGeom>
        </p:spPr>
      </p:pic>
      <p:pic>
        <p:nvPicPr>
          <p:cNvPr id="5" name="图片 4" descr="/Users/bd-2703/Library/Containers/com.kingsoft.wpsoffice.mac/Data/tmp/picturecompress_20260226131247/output_1.pngoutput_1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4690110" y="-1684655"/>
            <a:ext cx="9999345" cy="9999345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" hasCustomPrompt="1"/>
          </p:nvPr>
        </p:nvSpPr>
        <p:spPr>
          <a:xfrm>
            <a:off x="734060" y="1062355"/>
            <a:ext cx="2048510" cy="965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6000" b="1"/>
            </a:lvl1pPr>
          </a:lstStyle>
          <a:p>
            <a:pPr lvl="0"/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2631440" y="1148080"/>
            <a:ext cx="5502910" cy="965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6000" b="1">
                <a:ln w="12700">
                  <a:solidFill>
                    <a:srgbClr val="000000"/>
                  </a:solidFill>
                </a:ln>
                <a:noFill/>
              </a:defRPr>
            </a:lvl1pPr>
          </a:lstStyle>
          <a:p>
            <a:pPr lvl="0"/>
            <a:r>
              <a:rPr lang="en-US" altLang="zh-CN" smtClean="0"/>
              <a:t>CONTENTS</a:t>
            </a:r>
            <a:endParaRPr lang="en-US" altLang="zh-CN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 hasCustomPrompt="1"/>
          </p:nvPr>
        </p:nvSpPr>
        <p:spPr>
          <a:xfrm>
            <a:off x="1061720" y="2513330"/>
            <a:ext cx="599440" cy="899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smtClean="0"/>
              <a:t>1.</a:t>
            </a:r>
            <a:endParaRPr lang="en-US" altLang="zh-CN" smtClean="0"/>
          </a:p>
        </p:txBody>
      </p:sp>
      <p:sp>
        <p:nvSpPr>
          <p:cNvPr id="7" name="文本占位符 6"/>
          <p:cNvSpPr>
            <a:spLocks noGrp="1"/>
          </p:cNvSpPr>
          <p:nvPr>
            <p:ph type="body" idx="15" hasCustomPrompt="1"/>
          </p:nvPr>
        </p:nvSpPr>
        <p:spPr>
          <a:xfrm>
            <a:off x="1708785" y="2494280"/>
            <a:ext cx="388429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标题（字数建议控制在</a:t>
            </a:r>
            <a:r>
              <a:rPr lang="en-US" altLang="zh-CN" smtClean="0"/>
              <a:t>16</a:t>
            </a:r>
            <a:r>
              <a:rPr lang="zh-CN" altLang="en-US" smtClean="0"/>
              <a:t>字以内）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" hasCustomPrompt="1"/>
          </p:nvPr>
        </p:nvSpPr>
        <p:spPr>
          <a:xfrm>
            <a:off x="1702435" y="2941955"/>
            <a:ext cx="389064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zh-CN" altLang="en-US" smtClean="0"/>
              <a:t>内容概述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7" hasCustomPrompt="1"/>
          </p:nvPr>
        </p:nvSpPr>
        <p:spPr>
          <a:xfrm>
            <a:off x="6545580" y="2513330"/>
            <a:ext cx="599440" cy="899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smtClean="0"/>
              <a:t>4.</a:t>
            </a:r>
            <a:endParaRPr lang="en-US" altLang="zh-CN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8" hasCustomPrompt="1"/>
          </p:nvPr>
        </p:nvSpPr>
        <p:spPr>
          <a:xfrm>
            <a:off x="7192645" y="2494280"/>
            <a:ext cx="388429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标题（字数建议控制在</a:t>
            </a:r>
            <a:r>
              <a:rPr lang="en-US" altLang="zh-CN" smtClean="0"/>
              <a:t>16</a:t>
            </a:r>
            <a:r>
              <a:rPr lang="zh-CN" altLang="en-US" smtClean="0"/>
              <a:t>字以内）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9" hasCustomPrompt="1"/>
          </p:nvPr>
        </p:nvSpPr>
        <p:spPr>
          <a:xfrm>
            <a:off x="7186295" y="2941955"/>
            <a:ext cx="389064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zh-CN" altLang="en-US" smtClean="0"/>
              <a:t>内容概述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20" hasCustomPrompt="1"/>
          </p:nvPr>
        </p:nvSpPr>
        <p:spPr>
          <a:xfrm>
            <a:off x="1061720" y="3634105"/>
            <a:ext cx="599440" cy="899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smtClean="0"/>
              <a:t>2.</a:t>
            </a:r>
            <a:endParaRPr lang="en-US" altLang="zh-CN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21" hasCustomPrompt="1"/>
          </p:nvPr>
        </p:nvSpPr>
        <p:spPr>
          <a:xfrm>
            <a:off x="1708785" y="3615055"/>
            <a:ext cx="388429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标题（字数建议控制在</a:t>
            </a:r>
            <a:r>
              <a:rPr lang="en-US" altLang="zh-CN" smtClean="0"/>
              <a:t>16</a:t>
            </a:r>
            <a:r>
              <a:rPr lang="zh-CN" altLang="en-US" smtClean="0"/>
              <a:t>字以内）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22" hasCustomPrompt="1"/>
          </p:nvPr>
        </p:nvSpPr>
        <p:spPr>
          <a:xfrm>
            <a:off x="1702435" y="4062730"/>
            <a:ext cx="389064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zh-CN" altLang="en-US" smtClean="0"/>
              <a:t>内容概述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23" hasCustomPrompt="1"/>
          </p:nvPr>
        </p:nvSpPr>
        <p:spPr>
          <a:xfrm>
            <a:off x="6545580" y="3634105"/>
            <a:ext cx="599440" cy="899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smtClean="0"/>
              <a:t>5.</a:t>
            </a:r>
            <a:endParaRPr lang="en-US" altLang="zh-CN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24" hasCustomPrompt="1"/>
          </p:nvPr>
        </p:nvSpPr>
        <p:spPr>
          <a:xfrm>
            <a:off x="7192645" y="3615055"/>
            <a:ext cx="388429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标题（字数建议控制在</a:t>
            </a:r>
            <a:r>
              <a:rPr lang="en-US" altLang="zh-CN" smtClean="0"/>
              <a:t>16</a:t>
            </a:r>
            <a:r>
              <a:rPr lang="zh-CN" altLang="en-US" smtClean="0"/>
              <a:t>字以内）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25" hasCustomPrompt="1"/>
          </p:nvPr>
        </p:nvSpPr>
        <p:spPr>
          <a:xfrm>
            <a:off x="7186295" y="4062730"/>
            <a:ext cx="389064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zh-CN" altLang="en-US" smtClean="0"/>
              <a:t>内容概述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26" hasCustomPrompt="1"/>
          </p:nvPr>
        </p:nvSpPr>
        <p:spPr>
          <a:xfrm>
            <a:off x="1061720" y="4754880"/>
            <a:ext cx="599440" cy="899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smtClean="0"/>
              <a:t>3.</a:t>
            </a:r>
            <a:endParaRPr lang="en-US" altLang="zh-CN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27" hasCustomPrompt="1"/>
          </p:nvPr>
        </p:nvSpPr>
        <p:spPr>
          <a:xfrm>
            <a:off x="1708785" y="4735830"/>
            <a:ext cx="388429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标题（字数建议控制在</a:t>
            </a:r>
            <a:r>
              <a:rPr lang="en-US" altLang="zh-CN" smtClean="0"/>
              <a:t>16</a:t>
            </a:r>
            <a:r>
              <a:rPr lang="zh-CN" altLang="en-US" smtClean="0"/>
              <a:t>字以内）</a:t>
            </a:r>
            <a:endParaRPr lang="zh-CN" altLang="en-US" smtClean="0"/>
          </a:p>
        </p:txBody>
      </p:sp>
      <p:sp>
        <p:nvSpPr>
          <p:cNvPr id="32" name="文本占位符 31"/>
          <p:cNvSpPr>
            <a:spLocks noGrp="1"/>
          </p:cNvSpPr>
          <p:nvPr>
            <p:ph type="body" idx="28" hasCustomPrompt="1"/>
          </p:nvPr>
        </p:nvSpPr>
        <p:spPr>
          <a:xfrm>
            <a:off x="1702435" y="5183505"/>
            <a:ext cx="389064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zh-CN" altLang="en-US" smtClean="0"/>
              <a:t>内容概述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29" hasCustomPrompt="1"/>
          </p:nvPr>
        </p:nvSpPr>
        <p:spPr>
          <a:xfrm>
            <a:off x="6545580" y="4754880"/>
            <a:ext cx="599440" cy="899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smtClean="0"/>
              <a:t>6.</a:t>
            </a:r>
            <a:endParaRPr lang="en-US" altLang="zh-CN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30" hasCustomPrompt="1"/>
          </p:nvPr>
        </p:nvSpPr>
        <p:spPr>
          <a:xfrm>
            <a:off x="7192645" y="4735830"/>
            <a:ext cx="388429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标题（字数建议控制在</a:t>
            </a:r>
            <a:r>
              <a:rPr lang="en-US" altLang="zh-CN" smtClean="0"/>
              <a:t>16</a:t>
            </a:r>
            <a:r>
              <a:rPr lang="zh-CN" altLang="en-US" smtClean="0"/>
              <a:t>字以内）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31" hasCustomPrompt="1"/>
          </p:nvPr>
        </p:nvSpPr>
        <p:spPr>
          <a:xfrm>
            <a:off x="7186295" y="5183505"/>
            <a:ext cx="3890645" cy="318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zh-CN" altLang="en-US" smtClean="0"/>
              <a:t>内容概述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502390" y="6677660"/>
            <a:ext cx="4064000" cy="914400"/>
          </a:xfrm>
          <a:prstGeom prst="rect">
            <a:avLst/>
          </a:prstGeom>
        </p:spPr>
        <p:txBody>
          <a:bodyPr wrap="square"/>
          <a:p>
            <a:pPr algn="l"/>
            <a:endParaRPr lang="zh-CN" altLang="en-US" sz="5400" dirty="0"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0887075" y="6612255"/>
            <a:ext cx="4064000" cy="914400"/>
          </a:xfrm>
          <a:prstGeom prst="rect">
            <a:avLst/>
          </a:prstGeom>
        </p:spPr>
        <p:txBody>
          <a:bodyPr wrap="square"/>
          <a:p>
            <a:pPr algn="l"/>
            <a:endParaRPr lang="zh-CN" altLang="en-US" sz="5400" dirty="0"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pic>
        <p:nvPicPr>
          <p:cNvPr id="5" name="图片 4" descr="/Users/bd-2703/Library/Containers/com.kingsoft.wpsoffice.mac/Data/tmp/picturecompress_20260226131247/output_1.pngoutput_1"/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690110" y="-1684655"/>
            <a:ext cx="9999345" cy="9999345"/>
          </a:xfrm>
          <a:prstGeom prst="rect">
            <a:avLst/>
          </a:prstGeom>
        </p:spPr>
      </p:pic>
      <p:sp>
        <p:nvSpPr>
          <p:cNvPr id="6" name="文本占位符 4"/>
          <p:cNvSpPr>
            <a:spLocks noGrp="1"/>
          </p:cNvSpPr>
          <p:nvPr userDrawn="1"/>
        </p:nvSpPr>
        <p:spPr>
          <a:xfrm>
            <a:off x="998220" y="2855595"/>
            <a:ext cx="10194925" cy="641985"/>
          </a:xfrm>
          <a:prstGeom prst="rect">
            <a:avLst/>
          </a:prstGeom>
        </p:spPr>
        <p:txBody>
          <a:bodyPr lIns="3600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rgbClr val="FF4610"/>
                </a:solidFill>
                <a:latin typeface="思源黑体 CN Light" panose="020B0300000000000000" pitchFamily="34" charset="-128"/>
                <a:ea typeface="思源黑体 CN Light" panose="020B03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3600" dirty="0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" name="文本占位符 4"/>
          <p:cNvSpPr>
            <a:spLocks noGrp="1"/>
          </p:cNvSpPr>
          <p:nvPr userDrawn="1"/>
        </p:nvSpPr>
        <p:spPr>
          <a:xfrm>
            <a:off x="998220" y="4751705"/>
            <a:ext cx="10194925" cy="597535"/>
          </a:xfrm>
          <a:prstGeom prst="rect">
            <a:avLst/>
          </a:prstGeom>
        </p:spPr>
        <p:txBody>
          <a:bodyPr lIns="3600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rgbClr val="FF4610"/>
                </a:solidFill>
                <a:latin typeface="思源黑体 CN Light" panose="020B0300000000000000" pitchFamily="34" charset="-128"/>
                <a:ea typeface="思源黑体 CN Light" panose="020B03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" hasCustomPrompt="1"/>
          </p:nvPr>
        </p:nvSpPr>
        <p:spPr>
          <a:xfrm>
            <a:off x="968693" y="2807970"/>
            <a:ext cx="10254615" cy="621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副主题：黑体</a:t>
            </a:r>
            <a:r>
              <a:rPr lang="en-US" altLang="zh-CN"/>
              <a:t> 36</a:t>
            </a:r>
            <a:r>
              <a:rPr lang="zh-CN" altLang="en-US"/>
              <a:t>号</a:t>
            </a:r>
            <a:r>
              <a:rPr lang="en-US" altLang="zh-CN"/>
              <a:t> </a:t>
            </a:r>
            <a:r>
              <a:rPr lang="zh-CN" altLang="en-US"/>
              <a:t>黑色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hasCustomPrompt="1"/>
          </p:nvPr>
        </p:nvSpPr>
        <p:spPr>
          <a:xfrm>
            <a:off x="968693" y="4716780"/>
            <a:ext cx="10254615" cy="306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0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落款：黑体</a:t>
            </a:r>
            <a:r>
              <a:rPr lang="en-US" altLang="zh-CN"/>
              <a:t> 20</a:t>
            </a:r>
            <a:r>
              <a:rPr lang="zh-CN" altLang="en-US"/>
              <a:t>号</a:t>
            </a:r>
            <a:r>
              <a:rPr lang="en-US" altLang="zh-CN"/>
              <a:t> </a:t>
            </a:r>
            <a:r>
              <a:rPr lang="zh-CN" altLang="en-US"/>
              <a:t>黑色</a:t>
            </a:r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13" hasCustomPrompt="1"/>
          </p:nvPr>
        </p:nvSpPr>
        <p:spPr>
          <a:xfrm>
            <a:off x="838200" y="1597660"/>
            <a:ext cx="10515600" cy="848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400" b="1"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主题：黑体</a:t>
            </a:r>
            <a:r>
              <a:rPr lang="en-US" altLang="zh-CN"/>
              <a:t> 54</a:t>
            </a:r>
            <a:r>
              <a:rPr lang="zh-CN" altLang="en-US"/>
              <a:t>号</a:t>
            </a:r>
            <a:r>
              <a:rPr lang="en-US" altLang="zh-CN"/>
              <a:t> </a:t>
            </a:r>
            <a:r>
              <a:rPr lang="zh-CN" altLang="en-US"/>
              <a:t>黑色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二级正文-带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190" y="266668"/>
            <a:ext cx="858953" cy="318131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>
            <p:custDataLst>
              <p:tags r:id="rId3"/>
            </p:custDataLst>
          </p:nvPr>
        </p:nvSpPr>
        <p:spPr>
          <a:xfrm>
            <a:off x="10363200" y="6584315"/>
            <a:ext cx="1532255" cy="273685"/>
          </a:xfrm>
          <a:prstGeom prst="rect">
            <a:avLst/>
          </a:prstGeom>
        </p:spPr>
        <p:txBody>
          <a:bodyPr/>
          <a:lstStyle/>
          <a:p>
            <a:pPr algn="ctr" defTabSz="457200"/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简单</a:t>
            </a:r>
            <a:r>
              <a:rPr lang="en-US" altLang="zh-CN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极致</a:t>
            </a:r>
            <a:r>
              <a:rPr lang="en-US" altLang="zh-CN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快</a:t>
            </a:r>
            <a:endParaRPr lang="zh-CN" altLang="en-US" sz="1200" dirty="0">
              <a:solidFill>
                <a:schemeClr val="tx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635" y="-3175"/>
            <a:ext cx="12192000" cy="65874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dirty="0"/>
          </a:p>
        </p:txBody>
      </p:sp>
      <p:sp>
        <p:nvSpPr>
          <p:cNvPr id="3" name="文本框 2"/>
          <p:cNvSpPr txBox="1"/>
          <p:nvPr userDrawn="1">
            <p:custDataLst>
              <p:tags r:id="rId5"/>
            </p:custDataLst>
          </p:nvPr>
        </p:nvSpPr>
        <p:spPr>
          <a:xfrm>
            <a:off x="538480" y="6588125"/>
            <a:ext cx="1725930" cy="273685"/>
          </a:xfrm>
          <a:prstGeom prst="rect">
            <a:avLst/>
          </a:prstGeom>
        </p:spPr>
        <p:txBody>
          <a:bodyPr/>
          <a:lstStyle/>
          <a:p>
            <a:pPr algn="ctr" defTabSz="457200"/>
            <a:r>
              <a:rPr 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Bodor Confidential</a:t>
            </a:r>
            <a:endParaRPr lang="en-US" sz="1200" dirty="0">
              <a:solidFill>
                <a:schemeClr val="tx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sp>
        <p:nvSpPr>
          <p:cNvPr id="16" name="矩形 15"/>
          <p:cNvSpPr/>
          <p:nvPr userDrawn="1">
            <p:custDataLst>
              <p:tags r:id="rId6"/>
            </p:custDataLst>
          </p:nvPr>
        </p:nvSpPr>
        <p:spPr>
          <a:xfrm>
            <a:off x="952" y="310515"/>
            <a:ext cx="180000" cy="540000"/>
          </a:xfrm>
          <a:prstGeom prst="rect">
            <a:avLst/>
          </a:prstGeom>
          <a:solidFill>
            <a:srgbClr val="FF4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0952" y="305506"/>
            <a:ext cx="11818390" cy="396000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  <a:prstDash val="sysDot"/>
          </a:ln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 userDrawn="1"/>
        </p:nvSpPr>
        <p:spPr>
          <a:xfrm>
            <a:off x="180952" y="836613"/>
            <a:ext cx="11818391" cy="5616575"/>
          </a:xfrm>
          <a:prstGeom prst="rect">
            <a:avLst/>
          </a:prstGeom>
          <a:ln w="3175">
            <a:solidFill>
              <a:schemeClr val="tx1">
                <a:lumMod val="85000"/>
              </a:schemeClr>
            </a:solidFill>
            <a:prstDash val="sysDot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正文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190" y="266668"/>
            <a:ext cx="858953" cy="318131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>
            <p:custDataLst>
              <p:tags r:id="rId3"/>
            </p:custDataLst>
          </p:nvPr>
        </p:nvSpPr>
        <p:spPr>
          <a:xfrm>
            <a:off x="10363200" y="6584315"/>
            <a:ext cx="1532255" cy="273685"/>
          </a:xfrm>
          <a:prstGeom prst="rect">
            <a:avLst/>
          </a:prstGeom>
        </p:spPr>
        <p:txBody>
          <a:bodyPr/>
          <a:lstStyle/>
          <a:p>
            <a:pPr algn="ctr" defTabSz="457200"/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简单</a:t>
            </a:r>
            <a:r>
              <a:rPr lang="en-US" altLang="zh-CN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极致</a:t>
            </a:r>
            <a:r>
              <a:rPr lang="en-US" altLang="zh-CN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快</a:t>
            </a:r>
            <a:endParaRPr lang="zh-CN" altLang="en-US" sz="1200" dirty="0">
              <a:solidFill>
                <a:schemeClr val="tx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>
            <a:off x="635" y="-3175"/>
            <a:ext cx="12192000" cy="65874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3" name="文本框 2"/>
          <p:cNvSpPr txBox="1"/>
          <p:nvPr userDrawn="1">
            <p:custDataLst>
              <p:tags r:id="rId5"/>
            </p:custDataLst>
          </p:nvPr>
        </p:nvSpPr>
        <p:spPr>
          <a:xfrm>
            <a:off x="538480" y="6588125"/>
            <a:ext cx="1725930" cy="273685"/>
          </a:xfrm>
          <a:prstGeom prst="rect">
            <a:avLst/>
          </a:prstGeom>
        </p:spPr>
        <p:txBody>
          <a:bodyPr/>
          <a:lstStyle/>
          <a:p>
            <a:pPr algn="ctr" defTabSz="457200"/>
            <a:r>
              <a:rPr 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Bodor Confidential</a:t>
            </a:r>
            <a:endParaRPr lang="en-US" sz="1200" dirty="0">
              <a:solidFill>
                <a:schemeClr val="tx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sp>
        <p:nvSpPr>
          <p:cNvPr id="7" name="文本框 6"/>
          <p:cNvSpPr txBox="1"/>
          <p:nvPr userDrawn="1">
            <p:custDataLst>
              <p:tags r:id="rId6"/>
            </p:custDataLst>
          </p:nvPr>
        </p:nvSpPr>
        <p:spPr>
          <a:xfrm>
            <a:off x="5892281" y="6588014"/>
            <a:ext cx="1349375" cy="23622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 defTabSz="457200"/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第 </a:t>
            </a:r>
            <a:fld id="{48F63A3B-78C7-47BE-AE5E-E10140E04643}" type="slidenum">
              <a:rPr lang="en-US" altLang="en-US" sz="1000" dirty="0" smtClean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</a:fld>
            <a:r>
              <a:rPr 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</a:t>
            </a:r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页</a:t>
            </a:r>
            <a:r>
              <a:rPr lang="en-US" altLang="zh-CN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共</a:t>
            </a:r>
            <a:r>
              <a:rPr lang="en-US" altLang="zh-CN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21</a:t>
            </a:r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页</a:t>
            </a:r>
            <a:endParaRPr lang="zh-CN" altLang="en-US" sz="10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algn="l" defTabSz="457200"/>
            <a:endParaRPr lang="zh-CN" altLang="en-US" sz="10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5" name="矩形 4"/>
          <p:cNvSpPr/>
          <p:nvPr userDrawn="1">
            <p:custDataLst>
              <p:tags r:id="rId7"/>
            </p:custDataLst>
          </p:nvPr>
        </p:nvSpPr>
        <p:spPr>
          <a:xfrm>
            <a:off x="952" y="310515"/>
            <a:ext cx="180000" cy="540000"/>
          </a:xfrm>
          <a:prstGeom prst="rect">
            <a:avLst/>
          </a:prstGeom>
          <a:solidFill>
            <a:srgbClr val="FF4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80952" y="305506"/>
            <a:ext cx="11818390" cy="396000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  <a:prstDash val="sysDot"/>
          </a:ln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 userDrawn="1"/>
        </p:nvSpPr>
        <p:spPr>
          <a:xfrm>
            <a:off x="192088" y="836613"/>
            <a:ext cx="11807255" cy="5616575"/>
          </a:xfrm>
          <a:prstGeom prst="rect">
            <a:avLst/>
          </a:prstGeom>
          <a:ln w="3175">
            <a:solidFill>
              <a:schemeClr val="tx1">
                <a:lumMod val="85000"/>
              </a:schemeClr>
            </a:solidFill>
            <a:prstDash val="sysDot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1163637" y="361367"/>
            <a:ext cx="10194753" cy="1542029"/>
          </a:xfrm>
          <a:prstGeom prst="rect">
            <a:avLst/>
          </a:prstGeom>
        </p:spPr>
        <p:txBody>
          <a:bodyPr vert="horz" wrap="square" lIns="0" tIns="0" rIns="0" bIns="0" numCol="1" anchor="t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400" b="0" i="0" strike="noStrike" baseline="0">
                <a:solidFill>
                  <a:schemeClr val="bg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defRPr>
            </a:lvl1pPr>
          </a:lstStyle>
          <a:p>
            <a:r>
              <a:rPr kumimoji="1" lang="zh-CN" altLang="en-US" dirty="0"/>
              <a:t>主标题 </a:t>
            </a:r>
            <a:r>
              <a:rPr kumimoji="1" lang="en-US" altLang="zh-CN" dirty="0"/>
              <a:t>54</a:t>
            </a:r>
            <a:r>
              <a:rPr kumimoji="1" lang="zh-CN" altLang="en-US" dirty="0"/>
              <a:t>号</a:t>
            </a:r>
            <a:endParaRPr kumimoji="1" lang="en-US" altLang="zh-CN" dirty="0"/>
          </a:p>
          <a:p>
            <a:r>
              <a:rPr kumimoji="1" lang="zh-CN" altLang="en-US" dirty="0"/>
              <a:t>思源黑体 </a:t>
            </a:r>
            <a:r>
              <a:rPr kumimoji="1" lang="en-US" altLang="zh-CN" dirty="0"/>
              <a:t>Medium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3637" y="5225874"/>
            <a:ext cx="1198480" cy="443882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>
            <p:custDataLst>
              <p:tags r:id="rId3"/>
            </p:custDataLst>
          </p:nvPr>
        </p:nvSpPr>
        <p:spPr>
          <a:xfrm>
            <a:off x="10363200" y="6584315"/>
            <a:ext cx="1532255" cy="273685"/>
          </a:xfrm>
          <a:prstGeom prst="rect">
            <a:avLst/>
          </a:prstGeom>
        </p:spPr>
        <p:txBody>
          <a:bodyPr/>
          <a:lstStyle/>
          <a:p>
            <a:pPr algn="ctr" defTabSz="457200"/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简单</a:t>
            </a:r>
            <a:r>
              <a:rPr lang="en-US" altLang="zh-CN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极致</a:t>
            </a:r>
            <a:r>
              <a:rPr lang="en-US" altLang="zh-CN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快</a:t>
            </a:r>
            <a:endParaRPr lang="zh-CN" altLang="en-US" sz="1200" dirty="0">
              <a:solidFill>
                <a:schemeClr val="tx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sp>
        <p:nvSpPr>
          <p:cNvPr id="2" name="文本框 1"/>
          <p:cNvSpPr txBox="1"/>
          <p:nvPr userDrawn="1">
            <p:custDataLst>
              <p:tags r:id="rId4"/>
            </p:custDataLst>
          </p:nvPr>
        </p:nvSpPr>
        <p:spPr>
          <a:xfrm>
            <a:off x="538480" y="6588125"/>
            <a:ext cx="1725930" cy="273685"/>
          </a:xfrm>
          <a:prstGeom prst="rect">
            <a:avLst/>
          </a:prstGeom>
        </p:spPr>
        <p:txBody>
          <a:bodyPr/>
          <a:lstStyle/>
          <a:p>
            <a:pPr algn="ctr" defTabSz="457200"/>
            <a:r>
              <a:rPr 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Bodor Confidential</a:t>
            </a:r>
            <a:endParaRPr lang="en-US" sz="1200" dirty="0">
              <a:solidFill>
                <a:schemeClr val="tx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>
            <a:off x="635" y="-3175"/>
            <a:ext cx="12192000" cy="65874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3" name="文本框 2"/>
          <p:cNvSpPr txBox="1"/>
          <p:nvPr userDrawn="1">
            <p:custDataLst>
              <p:tags r:id="rId6"/>
            </p:custDataLst>
          </p:nvPr>
        </p:nvSpPr>
        <p:spPr>
          <a:xfrm>
            <a:off x="5892281" y="6588014"/>
            <a:ext cx="1349375" cy="23622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 defTabSz="457200"/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第 </a:t>
            </a:r>
            <a:fld id="{48F63A3B-78C7-47BE-AE5E-E10140E04643}" type="slidenum">
              <a:rPr lang="en-US" altLang="en-US" sz="1000" dirty="0" smtClean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</a:fld>
            <a:r>
              <a:rPr 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</a:t>
            </a:r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页</a:t>
            </a:r>
            <a:r>
              <a:rPr lang="en-US" altLang="zh-CN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共</a:t>
            </a:r>
            <a:r>
              <a:rPr lang="en-US" altLang="zh-CN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21</a:t>
            </a:r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页</a:t>
            </a:r>
            <a:endParaRPr lang="zh-CN" altLang="en-US" sz="10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algn="l" defTabSz="457200"/>
            <a:endParaRPr lang="zh-CN" altLang="en-US" sz="10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5" name="矩形 4"/>
          <p:cNvSpPr/>
          <p:nvPr userDrawn="1">
            <p:custDataLst>
              <p:tags r:id="rId7"/>
            </p:custDataLst>
          </p:nvPr>
        </p:nvSpPr>
        <p:spPr>
          <a:xfrm>
            <a:off x="952" y="310515"/>
            <a:ext cx="180000" cy="540000"/>
          </a:xfrm>
          <a:prstGeom prst="rect">
            <a:avLst/>
          </a:prstGeom>
          <a:solidFill>
            <a:srgbClr val="FF4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80952" y="305506"/>
            <a:ext cx="11818390" cy="396000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  <a:prstDash val="sysDot"/>
          </a:ln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 userDrawn="1"/>
        </p:nvSpPr>
        <p:spPr>
          <a:xfrm>
            <a:off x="180952" y="836613"/>
            <a:ext cx="11818391" cy="5616575"/>
          </a:xfrm>
          <a:prstGeom prst="rect">
            <a:avLst/>
          </a:prstGeom>
          <a:ln w="3175">
            <a:solidFill>
              <a:schemeClr val="tx1">
                <a:lumMod val="85000"/>
              </a:schemeClr>
            </a:solidFill>
            <a:prstDash val="sysDot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二级正文-带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190" y="266668"/>
            <a:ext cx="858953" cy="318131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5892281" y="6588014"/>
            <a:ext cx="1349375" cy="23622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 defTabSz="457200"/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第 </a:t>
            </a:r>
            <a:fld id="{48F63A3B-78C7-47BE-AE5E-E10140E04643}" type="slidenum">
              <a:rPr lang="en-US" altLang="en-US" sz="1000" dirty="0" smtClean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</a:fld>
            <a:r>
              <a:rPr 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</a:t>
            </a:r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页</a:t>
            </a:r>
            <a:r>
              <a:rPr lang="en-US" altLang="zh-CN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共</a:t>
            </a:r>
            <a:r>
              <a:rPr lang="en-US" altLang="zh-CN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21</a:t>
            </a:r>
            <a:r>
              <a:rPr lang="zh-CN" altLang="en-US" sz="10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页</a:t>
            </a:r>
            <a:endParaRPr lang="zh-CN" altLang="en-US" sz="10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pPr algn="l" defTabSz="457200"/>
            <a:endParaRPr lang="zh-CN" altLang="en-US" sz="10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 userDrawn="1">
            <p:custDataLst>
              <p:tags r:id="rId3"/>
            </p:custDataLst>
          </p:nvPr>
        </p:nvSpPr>
        <p:spPr>
          <a:xfrm>
            <a:off x="10363200" y="6584315"/>
            <a:ext cx="1532255" cy="273685"/>
          </a:xfrm>
          <a:prstGeom prst="rect">
            <a:avLst/>
          </a:prstGeom>
        </p:spPr>
        <p:txBody>
          <a:bodyPr/>
          <a:lstStyle/>
          <a:p>
            <a:pPr algn="ctr" defTabSz="457200"/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简单</a:t>
            </a:r>
            <a:r>
              <a:rPr lang="en-US" altLang="zh-CN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极致</a:t>
            </a:r>
            <a:r>
              <a:rPr lang="en-US" altLang="zh-CN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快</a:t>
            </a:r>
            <a:endParaRPr lang="zh-CN" altLang="en-US" sz="1200" dirty="0">
              <a:solidFill>
                <a:schemeClr val="tx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635" y="-3175"/>
            <a:ext cx="12192000" cy="65874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3" name="文本框 2"/>
          <p:cNvSpPr txBox="1"/>
          <p:nvPr userDrawn="1">
            <p:custDataLst>
              <p:tags r:id="rId5"/>
            </p:custDataLst>
          </p:nvPr>
        </p:nvSpPr>
        <p:spPr>
          <a:xfrm>
            <a:off x="538480" y="6588125"/>
            <a:ext cx="1725930" cy="273685"/>
          </a:xfrm>
          <a:prstGeom prst="rect">
            <a:avLst/>
          </a:prstGeom>
        </p:spPr>
        <p:txBody>
          <a:bodyPr/>
          <a:lstStyle/>
          <a:p>
            <a:pPr algn="ctr" defTabSz="457200"/>
            <a:r>
              <a:rPr lang="en-US" sz="1200" dirty="0">
                <a:solidFill>
                  <a:schemeClr val="tx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Bodor Confidential</a:t>
            </a:r>
            <a:endParaRPr lang="en-US" sz="1200" dirty="0">
              <a:solidFill>
                <a:schemeClr val="tx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sp>
        <p:nvSpPr>
          <p:cNvPr id="16" name="矩形 15"/>
          <p:cNvSpPr/>
          <p:nvPr userDrawn="1">
            <p:custDataLst>
              <p:tags r:id="rId6"/>
            </p:custDataLst>
          </p:nvPr>
        </p:nvSpPr>
        <p:spPr>
          <a:xfrm>
            <a:off x="952" y="310515"/>
            <a:ext cx="180000" cy="540000"/>
          </a:xfrm>
          <a:prstGeom prst="rect">
            <a:avLst/>
          </a:prstGeom>
          <a:solidFill>
            <a:srgbClr val="FF4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0952" y="305506"/>
            <a:ext cx="11818390" cy="396000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  <a:prstDash val="sysDot"/>
          </a:ln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 userDrawn="1"/>
        </p:nvSpPr>
        <p:spPr>
          <a:xfrm>
            <a:off x="180952" y="836613"/>
            <a:ext cx="11818391" cy="5616575"/>
          </a:xfrm>
          <a:prstGeom prst="rect">
            <a:avLst/>
          </a:prstGeom>
          <a:ln w="3175">
            <a:solidFill>
              <a:schemeClr val="tx1">
                <a:lumMod val="85000"/>
              </a:schemeClr>
            </a:solidFill>
            <a:prstDash val="sysDot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PGWMV_P-C5B9_T-3_U-0EAD615A" descr="IPGWMV_P-C5B9_T-3_U-0EAD615A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457200"/>
            <a:endParaRPr lang="zh-CN" altLang="en-US" dirty="0">
              <a:ln>
                <a:noFill/>
              </a:ln>
              <a:noFill/>
              <a:ea typeface="思源黑体 CN Medium" panose="020B0600000000000000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5970905" y="6552565"/>
            <a:ext cx="2054225" cy="306070"/>
          </a:xfrm>
          <a:prstGeom prst="rect">
            <a:avLst/>
          </a:prstGeom>
        </p:spPr>
        <p:txBody>
          <a:bodyPr/>
          <a:p>
            <a:pPr algn="l" defTabSz="914400"/>
            <a:r>
              <a:rPr lang="en-US" altLang="zh-CN" dirty="0">
                <a:solidFill>
                  <a:schemeClr val="bg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# / &amp;</a:t>
            </a:r>
            <a:endParaRPr lang="en-US" altLang="zh-CN" dirty="0">
              <a:solidFill>
                <a:schemeClr val="bg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1097280" y="1463040"/>
            <a:ext cx="91440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Georgia" panose="02040502050405020303"/>
              </a:defRPr>
            </a:pPr>
            <a:r>
              <a:rPr lang="zh-CN" altLang="en-US" sz="5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数字员工进展</a:t>
            </a:r>
            <a:r>
              <a:rPr lang="zh-CN" altLang="en-US" sz="5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</a:t>
            </a:r>
            <a:endParaRPr lang="zh-CN" altLang="en-US" sz="5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97280" y="2484755"/>
            <a:ext cx="3200400" cy="38100"/>
          </a:xfrm>
          <a:prstGeom prst="rect">
            <a:avLst/>
          </a:prstGeom>
          <a:solidFill>
            <a:srgbClr val="6C5CE7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TextBox 26"/>
          <p:cNvSpPr txBox="1"/>
          <p:nvPr/>
        </p:nvSpPr>
        <p:spPr>
          <a:xfrm>
            <a:off x="7054215" y="5267325"/>
            <a:ext cx="460057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 panose="020B0503020204020204" charset="-122"/>
              </a:defRPr>
            </a:pPr>
            <a:r>
              <a:rPr lang="zh-CN" sz="24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汇报人-2026.10.26</a:t>
            </a:r>
            <a:r>
              <a:rPr lang="en-US" altLang="zh-CN" sz="24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/>
            </a:r>
            <a:endParaRPr lang="en-US" altLang="zh-CN" sz="24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16970" y="6354445"/>
            <a:ext cx="4064000" cy="914400"/>
          </a:xfrm>
          <a:prstGeom prst="rect">
            <a:avLst/>
          </a:prstGeom>
        </p:spPr>
        <p:txBody>
          <a:bodyPr wrap="square"/>
          <a:p>
            <a:pPr algn="l"/>
            <a:endParaRPr lang="zh-CN" altLang="en-US" sz="5400" dirty="0"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5"/>
          <p:cNvSpPr>
            <a:spLocks noGrp="1"/>
          </p:cNvSpPr>
          <p:nvPr>
            <p:ph type="title" idx="4294967295" hasCustomPrompt="1"/>
            <p:custDataLst>
              <p:tags r:id="rId1"/>
            </p:custDataLst>
          </p:nvPr>
        </p:nvSpPr>
        <p:spPr>
          <a:xfrm>
            <a:off x="135890" y="2631440"/>
            <a:ext cx="1572260" cy="734695"/>
          </a:xfrm>
          <a:prstGeom prst="rect">
            <a:avLst/>
          </a:prstGeom>
        </p:spPr>
        <p:txBody>
          <a:bodyPr lIns="0" tIns="0" rIns="0" bIns="0">
            <a:normAutofit fontScale="90000"/>
          </a:bodyPr>
          <a:lstStyle>
            <a:lvl1pPr algn="l">
              <a:defRPr sz="6000" b="1" i="0">
                <a:solidFill>
                  <a:schemeClr val="tx1"/>
                </a:solidFill>
                <a:latin typeface="Source Han Sans CN" panose="020B0500000000000000" charset="-122"/>
                <a:ea typeface="Source Han Sans CN" panose="020B0500000000000000" charset="-122"/>
                <a:cs typeface="思源黑体 CN Medium" panose="020B0600000000000000" pitchFamily="34" charset="-128"/>
              </a:defRPr>
            </a:lvl1pPr>
          </a:lstStyle>
          <a:p>
            <a:r>
              <a:rPr kumimoji="1" lang="zh-CN" altLang="en-US" dirty="0">
                <a:latin typeface="黑体" panose="02010609060101010101" charset="-122"/>
                <a:ea typeface="黑体" panose="02010609060101010101" charset="-122"/>
                <a:sym typeface="+mn-ea"/>
              </a:rPr>
              <a:t>目录</a:t>
            </a:r>
            <a:endParaRPr kumimoji="1" lang="zh-CN" altLang="en-US" dirty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5" name="标题 35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1981835" y="2631440"/>
            <a:ext cx="4398010" cy="73469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6000" b="1" i="0">
                <a:solidFill>
                  <a:schemeClr val="tx1"/>
                </a:solidFill>
                <a:latin typeface="Source Han Sans CN" panose="020B0500000000000000" charset="-122"/>
                <a:ea typeface="Source Han Sans CN" panose="020B0500000000000000" charset="-122"/>
                <a:cs typeface="思源黑体 CN Medium" panose="020B0600000000000000" pitchFamily="34" charset="-128"/>
              </a:defRPr>
            </a:lvl1pPr>
          </a:lstStyle>
          <a:p>
            <a:r>
              <a:rPr kumimoji="1" lang="en-US" altLang="zh-CN" dirty="0">
                <a:ln>
                  <a:solidFill>
                    <a:srgbClr val="000000"/>
                  </a:solidFill>
                </a:ln>
                <a:noFill/>
                <a:latin typeface="黑体" panose="02010609060101010101" charset="-122"/>
                <a:ea typeface="黑体" panose="02010609060101010101" charset="-122"/>
                <a:cs typeface="Montserrat" panose="00000500000000000000" pitchFamily="2" charset="0"/>
                <a:sym typeface="+mn-ea"/>
              </a:rPr>
              <a:t>CONTENTS</a:t>
            </a:r>
            <a:endParaRPr kumimoji="1" lang="en-US" altLang="zh-CN" dirty="0">
              <a:ln>
                <a:solidFill>
                  <a:srgbClr val="000000"/>
                </a:solidFill>
              </a:ln>
              <a:noFill/>
              <a:latin typeface="黑体" panose="02010609060101010101" charset="-122"/>
              <a:ea typeface="黑体" panose="02010609060101010101" charset="-122"/>
              <a:cs typeface="Montserrat" panose="00000500000000000000" pitchFamily="2" charset="0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210185" y="2225675"/>
            <a:ext cx="596265" cy="97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Oval 3"/>
          <p:cNvSpPr/>
          <p:nvPr/>
        </p:nvSpPr>
        <p:spPr>
          <a:xfrm>
            <a:off x="6034405" y="619760"/>
            <a:ext cx="457200" cy="457200"/>
          </a:xfrm>
          <a:prstGeom prst="ellipse">
            <a:avLst/>
          </a:prstGeom>
          <a:solidFill>
            <a:srgbClr val="58A6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000">
                <a:solidFill>
                  <a:sysClr val="window" lastClr="FFFFFF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sz="1000">
              <a:solidFill>
                <a:sysClr val="window" lastClr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6765925" y="574040"/>
            <a:ext cx="3657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Georgia" panose="02040502050405020303"/>
              </a:defRPr>
            </a:pPr>
            <a:r>
              <a:rPr 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数字员工</a:t>
            </a:r>
            <a:r>
              <a:rPr 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规划</a:t>
            </a:r>
            <a:endParaRPr 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Oval 6"/>
          <p:cNvSpPr/>
          <p:nvPr/>
        </p:nvSpPr>
        <p:spPr>
          <a:xfrm>
            <a:off x="6034405" y="1663700"/>
            <a:ext cx="457200" cy="457200"/>
          </a:xfrm>
          <a:prstGeom prst="ellipse">
            <a:avLst/>
          </a:prstGeom>
          <a:solidFill>
            <a:srgbClr val="6C5CE7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000">
                <a:solidFill>
                  <a:sysClr val="window" lastClr="FFFFFF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sz="1000">
              <a:solidFill>
                <a:sysClr val="window" lastClr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765925" y="1617980"/>
            <a:ext cx="3657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Georgia" panose="02040502050405020303"/>
              </a:defRPr>
            </a:pP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关键步骤拆解及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RASIC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矩阵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Oval 9"/>
          <p:cNvSpPr/>
          <p:nvPr/>
        </p:nvSpPr>
        <p:spPr>
          <a:xfrm>
            <a:off x="6034405" y="2669540"/>
            <a:ext cx="457200" cy="457200"/>
          </a:xfrm>
          <a:prstGeom prst="ellipse">
            <a:avLst/>
          </a:prstGeom>
          <a:solidFill>
            <a:srgbClr val="3FB95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000">
                <a:solidFill>
                  <a:sysClr val="window" lastClr="FFFFFF"/>
                </a:soli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sz="1000">
              <a:solidFill>
                <a:sysClr val="window" lastClr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6765925" y="2623820"/>
            <a:ext cx="3657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Georgia" panose="02040502050405020303"/>
              </a:defRPr>
            </a:pPr>
            <a:r>
              <a:rPr 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关键进展汇报</a:t>
            </a:r>
            <a:endParaRPr lang="zh-CN" altLang="en-US" sz="12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2"/>
          <p:cNvSpPr/>
          <p:nvPr/>
        </p:nvSpPr>
        <p:spPr>
          <a:xfrm>
            <a:off x="6034405" y="4004310"/>
            <a:ext cx="457200" cy="457200"/>
          </a:xfrm>
          <a:prstGeom prst="ellipse">
            <a:avLst/>
          </a:prstGeom>
          <a:solidFill>
            <a:srgbClr val="FF6B6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000">
                <a:solidFill>
                  <a:sysClr val="window" lastClr="FFFFFF"/>
                </a:solidFill>
                <a:latin typeface="黑体" panose="02010609060101010101" charset="-122"/>
                <a:ea typeface="黑体" panose="02010609060101010101" charset="-122"/>
              </a:rPr>
              <a:t>04</a:t>
            </a:r>
            <a:endParaRPr sz="1000">
              <a:solidFill>
                <a:sysClr val="window" lastClr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6765925" y="3958590"/>
            <a:ext cx="3657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Georgia" panose="02040502050405020303"/>
              </a:defRPr>
            </a:pPr>
            <a:r>
              <a:rPr 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相关信息</a:t>
            </a:r>
            <a:endParaRPr 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Oval 15"/>
          <p:cNvSpPr/>
          <p:nvPr/>
        </p:nvSpPr>
        <p:spPr>
          <a:xfrm>
            <a:off x="6034405" y="5309870"/>
            <a:ext cx="457200" cy="457200"/>
          </a:xfrm>
          <a:prstGeom prst="ellipse">
            <a:avLst/>
          </a:prstGeom>
          <a:solidFill>
            <a:srgbClr val="00B89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000">
                <a:solidFill>
                  <a:sysClr val="window" lastClr="FFFFFF"/>
                </a:solidFill>
                <a:latin typeface="黑体" panose="02010609060101010101" charset="-122"/>
                <a:ea typeface="黑体" panose="02010609060101010101" charset="-122"/>
              </a:rPr>
              <a:t>05</a:t>
            </a:r>
            <a:endParaRPr sz="1000">
              <a:solidFill>
                <a:sysClr val="window" lastClr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TextBox 16"/>
          <p:cNvSpPr txBox="1"/>
          <p:nvPr/>
        </p:nvSpPr>
        <p:spPr>
          <a:xfrm>
            <a:off x="6765925" y="5264150"/>
            <a:ext cx="3657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Georgia" panose="02040502050405020303"/>
              </a:defRPr>
            </a:pPr>
            <a:r>
              <a:rPr 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待决策项</a:t>
            </a:r>
            <a:endParaRPr 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TextBox 14"/>
          <p:cNvSpPr txBox="1"/>
          <p:nvPr/>
        </p:nvSpPr>
        <p:spPr>
          <a:xfrm>
            <a:off x="6892925" y="3116580"/>
            <a:ext cx="5555615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微软雅黑" panose="020B0503020204020204" charset="-122"/>
              </a:defRPr>
            </a:pPr>
            <a:r>
              <a:rPr lang="zh-CN" altLang="en-US" b="1">
                <a:solidFill>
                  <a:srgbClr val="FF0000"/>
                </a:solidFill>
                <a:ea typeface="微软雅黑" panose="020B0503020204020204" charset="-122"/>
                <a:cs typeface="黑体" panose="02010609060101010101" charset="-122"/>
              </a:rPr>
              <a:t>步骤一：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内部通讯软件消息获取、内容智能解读、干系人自动触达</a:t>
            </a:r>
            <a:endParaRPr lang="zh-CN" altLang="en-US" b="1">
              <a:solidFill>
                <a:srgbClr val="FF0000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300" b="0">
                <a:solidFill>
                  <a:srgbClr val="8B949E"/>
                </a:solidFill>
                <a:latin typeface="微软雅黑" panose="020B0503020204020204" charset="-122"/>
              </a:defRPr>
            </a:pP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300" b="0">
                <a:solidFill>
                  <a:srgbClr val="8B949E"/>
                </a:solidFill>
                <a:latin typeface="微软雅黑" panose="020B0503020204020204" charset="-122"/>
              </a:defRPr>
            </a:pPr>
            <a:r>
              <a:rPr lang="zh-CN" altLang="en-US" b="1">
                <a:solidFill>
                  <a:srgbClr val="FF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步骤二：自研公司内部通讯软件（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NewBodor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）进展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8B949E"/>
                </a:solidFill>
                <a:latin typeface="微软雅黑" panose="020B0503020204020204" charset="-122"/>
              </a:defRPr>
            </a:pP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4"/>
          <p:cNvSpPr txBox="1"/>
          <p:nvPr/>
        </p:nvSpPr>
        <p:spPr>
          <a:xfrm>
            <a:off x="6892925" y="4388485"/>
            <a:ext cx="5555615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微软雅黑" panose="020B0503020204020204" charset="-122"/>
              </a:defRPr>
            </a:pPr>
            <a:r>
              <a:rPr lang="zh-CN" altLang="en-US" b="1">
                <a:solidFill>
                  <a:srgbClr val="FF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通讯软件对比</a:t>
            </a:r>
            <a:endParaRPr lang="zh-CN" altLang="en-US" b="1">
              <a:solidFill>
                <a:srgbClr val="FF0000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300" b="0">
                <a:solidFill>
                  <a:srgbClr val="8B949E"/>
                </a:solidFill>
                <a:latin typeface="微软雅黑" panose="020B0503020204020204" charset="-122"/>
              </a:defRPr>
            </a:pP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300" b="0">
                <a:solidFill>
                  <a:srgbClr val="8B949E"/>
                </a:solidFill>
                <a:latin typeface="微软雅黑" panose="020B0503020204020204" charset="-122"/>
              </a:defRPr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NewBodor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实现原理（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技术）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8B949E"/>
                </a:solidFill>
                <a:latin typeface="微软雅黑" panose="020B0503020204020204" charset="-122"/>
              </a:defRPr>
            </a:pP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14"/>
          <p:cNvSpPr txBox="1"/>
          <p:nvPr/>
        </p:nvSpPr>
        <p:spPr>
          <a:xfrm>
            <a:off x="6892925" y="5655310"/>
            <a:ext cx="555561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微软雅黑" panose="020B0503020204020204" charset="-122"/>
              </a:defRPr>
            </a:pPr>
            <a:r>
              <a:rPr lang="zh-CN" altLang="en-US" b="1">
                <a:solidFill>
                  <a:srgbClr val="FF0000"/>
                </a:solidFill>
                <a:ea typeface="微软雅黑" panose="020B0503020204020204" charset="-122"/>
                <a:cs typeface="黑体" panose="02010609060101010101" charset="-122"/>
              </a:rPr>
              <a:t>外采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charset="-122"/>
                <a:cs typeface="黑体" panose="02010609060101010101" charset="-122"/>
              </a:rPr>
              <a:t>  or  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charset="-122"/>
                <a:cs typeface="黑体" panose="02010609060101010101" charset="-122"/>
              </a:rPr>
              <a:t>自研？</a:t>
            </a:r>
            <a:endParaRPr lang="zh-CN" altLang="en-US" b="1">
              <a:solidFill>
                <a:srgbClr val="FF0000"/>
              </a:solidFill>
              <a:ea typeface="微软雅黑" panose="020B0503020204020204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22"/>
          </p:nvPr>
        </p:nvSpPr>
        <p:spPr/>
        <p:txBody>
          <a:bodyPr/>
          <a:p>
            <a:pPr marL="0" indent="0"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公司级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通用项目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员工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灯片编号占位符 1"/>
          <p:cNvSpPr>
            <a:spLocks noGrp="1"/>
          </p:cNvSpPr>
          <p:nvPr/>
        </p:nvSpPr>
        <p:spPr>
          <a:xfrm>
            <a:off x="10769600" y="6671310"/>
            <a:ext cx="1422400" cy="1873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defPPr>
              <a:defRPr lang="zh-CN"/>
            </a:defPPr>
            <a:lvl1pPr marL="0" algn="r" defTabSz="914400" rtl="0" eaLnBrk="1" latinLnBrk="0" hangingPunct="1">
              <a:lnSpc>
                <a:spcPct val="100000"/>
              </a:lnSpc>
              <a:defRPr sz="11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765"/>
            <a:fld id="{8E5AB401-1728-4F42-B94D-D80BBC5D1E6A}" type="slidenum">
              <a:rPr lang="zh-CN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</a:fld>
            <a:r>
              <a:rPr lang="en-US" altLang="zh-CN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/12</a:t>
            </a:r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046980" y="1689100"/>
            <a:ext cx="6445885" cy="118554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p>
            <a:pPr algn="ctr" defTabSz="457200"/>
            <a:endParaRPr lang="zh-CN" altLang="en-US" sz="2400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7134225" y="1791335"/>
            <a:ext cx="2811145" cy="404495"/>
          </a:xfrm>
          <a:prstGeom prst="roundRect">
            <a:avLst/>
          </a:prstGeom>
          <a:solidFill>
            <a:srgbClr val="A04DA3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altLang="en-US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权责管控层</a:t>
            </a:r>
            <a:endParaRPr lang="zh-CN" altLang="en-US" sz="1200" b="1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180965" y="2386965"/>
            <a:ext cx="1196975" cy="43370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altLang="en-US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审批数字员工的</a:t>
            </a:r>
            <a:r>
              <a:rPr lang="en-US" altLang="zh-CN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</a:t>
            </a:r>
            <a:r>
              <a:rPr lang="en-US" altLang="zh-CN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12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547485" y="2386965"/>
            <a:ext cx="1397000" cy="43370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审批跨专业资源分配与优先级</a:t>
            </a:r>
            <a:endParaRPr lang="zh-CN" sz="12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8247380" y="2386965"/>
            <a:ext cx="1562100" cy="43370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裁定数字员工与人类员工之间的职责边界</a:t>
            </a:r>
            <a:endParaRPr lang="zh-CN" sz="12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9959975" y="2386965"/>
            <a:ext cx="1402080" cy="43370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altLang="en-US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审批数字员工的</a:t>
            </a:r>
            <a:r>
              <a:rPr lang="en-US" altLang="zh-CN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入职</a:t>
            </a:r>
            <a:r>
              <a:rPr lang="en-US" altLang="zh-CN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离职</a:t>
            </a:r>
            <a:r>
              <a:rPr lang="en-US" altLang="zh-CN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12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3" name="肘形连接符 82"/>
          <p:cNvCxnSpPr>
            <a:stCxn id="77" idx="2"/>
            <a:endCxn id="78" idx="0"/>
          </p:cNvCxnSpPr>
          <p:nvPr/>
        </p:nvCxnSpPr>
        <p:spPr>
          <a:xfrm rot="5400000">
            <a:off x="7064375" y="911225"/>
            <a:ext cx="191135" cy="2760345"/>
          </a:xfrm>
          <a:prstGeom prst="bentConnector3">
            <a:avLst>
              <a:gd name="adj1" fmla="val 50166"/>
            </a:avLst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85" name="肘形连接符 84"/>
          <p:cNvCxnSpPr>
            <a:stCxn id="77" idx="2"/>
            <a:endCxn id="79" idx="0"/>
          </p:cNvCxnSpPr>
          <p:nvPr/>
        </p:nvCxnSpPr>
        <p:spPr>
          <a:xfrm rot="5400000">
            <a:off x="7797483" y="1644333"/>
            <a:ext cx="191135" cy="129413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86" name="肘形连接符 85"/>
          <p:cNvCxnSpPr>
            <a:stCxn id="77" idx="2"/>
            <a:endCxn id="80" idx="0"/>
          </p:cNvCxnSpPr>
          <p:nvPr/>
        </p:nvCxnSpPr>
        <p:spPr>
          <a:xfrm rot="5400000" flipV="1">
            <a:off x="8688705" y="2047240"/>
            <a:ext cx="191135" cy="488315"/>
          </a:xfrm>
          <a:prstGeom prst="bentConnector3">
            <a:avLst>
              <a:gd name="adj1" fmla="val 50166"/>
            </a:avLst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87" name="肘形连接符 86"/>
          <p:cNvCxnSpPr>
            <a:stCxn id="77" idx="2"/>
            <a:endCxn id="82" idx="0"/>
          </p:cNvCxnSpPr>
          <p:nvPr/>
        </p:nvCxnSpPr>
        <p:spPr>
          <a:xfrm rot="5400000" flipV="1">
            <a:off x="9504998" y="1230948"/>
            <a:ext cx="191135" cy="21209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88" name="矩形 87"/>
          <p:cNvSpPr/>
          <p:nvPr/>
        </p:nvSpPr>
        <p:spPr>
          <a:xfrm>
            <a:off x="5046980" y="4263390"/>
            <a:ext cx="6445885" cy="114998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p>
            <a:pPr algn="ctr" defTabSz="457200"/>
            <a:endParaRPr lang="zh-CN" altLang="en-US" sz="2400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7149465" y="4307840"/>
            <a:ext cx="2811145" cy="353060"/>
          </a:xfrm>
          <a:prstGeom prst="roundRect">
            <a:avLst/>
          </a:prstGeom>
          <a:solidFill>
            <a:srgbClr val="A04DA3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altLang="en-US" sz="12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应用集成层</a:t>
            </a:r>
            <a:r>
              <a:rPr lang="en-US" altLang="zh-CN" sz="12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(All in One</a:t>
            </a:r>
            <a:r>
              <a:rPr lang="zh-CN" altLang="en-US" sz="12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平台、</a:t>
            </a:r>
            <a:r>
              <a:rPr lang="en-US" altLang="zh-CN" sz="12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NewBodor</a:t>
            </a:r>
            <a:r>
              <a:rPr lang="zh-CN" altLang="en-US" sz="12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</a:t>
            </a:r>
            <a:r>
              <a:rPr lang="en-US" altLang="zh-CN" sz="12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1200" b="1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02" name="肘形连接符 101"/>
          <p:cNvCxnSpPr>
            <a:endCxn id="131" idx="0"/>
          </p:cNvCxnSpPr>
          <p:nvPr/>
        </p:nvCxnSpPr>
        <p:spPr>
          <a:xfrm rot="10800000" flipV="1">
            <a:off x="5779135" y="4871085"/>
            <a:ext cx="2763520" cy="124460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104" name="矩形 103"/>
          <p:cNvSpPr/>
          <p:nvPr/>
        </p:nvSpPr>
        <p:spPr>
          <a:xfrm>
            <a:off x="5044440" y="5532120"/>
            <a:ext cx="6445885" cy="110807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ysDash"/>
            <a:miter lim="800000"/>
            <a:headEnd type="none"/>
            <a:tailEnd type="triangle" w="med" len="med"/>
          </a:ln>
          <a:effectLst/>
        </p:spPr>
        <p:txBody>
          <a:bodyPr rtlCol="0" anchor="ctr"/>
          <a:p>
            <a:pPr algn="ctr" defTabSz="457200"/>
            <a:endParaRPr lang="zh-CN" altLang="en-US" sz="2400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6579870" y="5558790"/>
            <a:ext cx="3974465" cy="420370"/>
          </a:xfrm>
          <a:prstGeom prst="roundRect">
            <a:avLst/>
          </a:prstGeom>
          <a:solidFill>
            <a:srgbClr val="A04DA3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en-US" altLang="zh-CN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能力</a:t>
            </a:r>
            <a:r>
              <a:rPr lang="zh-CN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实现层</a:t>
            </a:r>
            <a:endParaRPr lang="zh-CN" sz="1200" b="1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defTabSz="457200"/>
            <a:r>
              <a:rPr lang="en-US" altLang="zh-CN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LLM+</a:t>
            </a:r>
            <a:r>
              <a:rPr lang="zh-CN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底层原子能力</a:t>
            </a:r>
            <a:r>
              <a:rPr lang="en-US" altLang="zh-CN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Skill +  MCP</a:t>
            </a:r>
            <a:r>
              <a:rPr lang="zh-CN" altLang="en-US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广场</a:t>
            </a:r>
            <a:r>
              <a:rPr lang="en-US" altLang="zh-CN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+  Tools</a:t>
            </a:r>
            <a:endParaRPr lang="en-US" altLang="zh-CN" sz="1200" b="1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5180965" y="6171565"/>
            <a:ext cx="600075" cy="345440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altLang="en-US" sz="120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代码撰写</a:t>
            </a:r>
            <a:endParaRPr lang="zh-CN" altLang="en-US" sz="120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107" name="肘形连接符 106"/>
          <p:cNvCxnSpPr>
            <a:stCxn id="105" idx="2"/>
            <a:endCxn id="106" idx="0"/>
          </p:cNvCxnSpPr>
          <p:nvPr/>
        </p:nvCxnSpPr>
        <p:spPr>
          <a:xfrm rot="5400000">
            <a:off x="6928168" y="4532313"/>
            <a:ext cx="192405" cy="30861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114" name="矩形 113"/>
          <p:cNvSpPr/>
          <p:nvPr/>
        </p:nvSpPr>
        <p:spPr>
          <a:xfrm>
            <a:off x="5829935" y="6172200"/>
            <a:ext cx="600075" cy="345440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altLang="en-US" sz="120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文档梳理</a:t>
            </a:r>
            <a:endParaRPr lang="zh-CN" altLang="en-US" sz="120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6513830" y="6172200"/>
            <a:ext cx="600075" cy="345440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altLang="en-US" sz="120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专业翻译</a:t>
            </a:r>
            <a:endParaRPr lang="zh-CN" altLang="en-US" sz="120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233285" y="6175375"/>
            <a:ext cx="600075" cy="345440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en-US" altLang="zh-CN" sz="1200">
                <a:solidFill>
                  <a:sysClr val="windowText" lastClr="000000"/>
                </a:solidFill>
                <a:latin typeface="+mn-ea"/>
                <a:ea typeface="宋体" panose="02010600030101010101" pitchFamily="2" charset="-122"/>
                <a:cs typeface="+mn-ea"/>
              </a:rPr>
              <a:t>PPT</a:t>
            </a:r>
            <a:r>
              <a:rPr lang="zh-CN" altLang="en-US" sz="120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撰写</a:t>
            </a:r>
            <a:endParaRPr lang="zh-CN" altLang="en-US" sz="120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943850" y="6172200"/>
            <a:ext cx="828040" cy="345440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en-US" altLang="zh-CN" sz="120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SOP</a:t>
            </a:r>
            <a:r>
              <a:rPr lang="zh-CN" altLang="en-US" sz="120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撰写</a:t>
            </a:r>
            <a:endParaRPr lang="zh-CN" altLang="en-US" sz="120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8878570" y="6172200"/>
            <a:ext cx="774065" cy="345440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sz="120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定时任务追踪</a:t>
            </a:r>
            <a:endParaRPr lang="zh-CN" sz="120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683115" y="6172200"/>
            <a:ext cx="817880" cy="345440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sz="120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文本</a:t>
            </a:r>
            <a:r>
              <a:rPr lang="zh-CN" sz="120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润色</a:t>
            </a:r>
            <a:endParaRPr lang="zh-CN" sz="120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120" name="肘形连接符 119"/>
          <p:cNvCxnSpPr>
            <a:endCxn id="119" idx="0"/>
          </p:cNvCxnSpPr>
          <p:nvPr/>
        </p:nvCxnSpPr>
        <p:spPr>
          <a:xfrm rot="5400000" flipV="1">
            <a:off x="10041255" y="6120765"/>
            <a:ext cx="102235" cy="317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121" name="肘形连接符 120"/>
          <p:cNvCxnSpPr>
            <a:endCxn id="118" idx="0"/>
          </p:cNvCxnSpPr>
          <p:nvPr/>
        </p:nvCxnSpPr>
        <p:spPr>
          <a:xfrm rot="5400000" flipV="1">
            <a:off x="9215755" y="6121400"/>
            <a:ext cx="100965" cy="317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122" name="肘形连接符 121"/>
          <p:cNvCxnSpPr>
            <a:endCxn id="117" idx="0"/>
          </p:cNvCxnSpPr>
          <p:nvPr/>
        </p:nvCxnSpPr>
        <p:spPr>
          <a:xfrm rot="5400000" flipV="1">
            <a:off x="8307070" y="6120765"/>
            <a:ext cx="102235" cy="317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123" name="肘形连接符 122"/>
          <p:cNvCxnSpPr>
            <a:endCxn id="116" idx="0"/>
          </p:cNvCxnSpPr>
          <p:nvPr/>
        </p:nvCxnSpPr>
        <p:spPr>
          <a:xfrm rot="5400000" flipV="1">
            <a:off x="7480300" y="6122035"/>
            <a:ext cx="106680" cy="317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124" name="肘形连接符 123"/>
          <p:cNvCxnSpPr>
            <a:endCxn id="115" idx="0"/>
          </p:cNvCxnSpPr>
          <p:nvPr/>
        </p:nvCxnSpPr>
        <p:spPr>
          <a:xfrm rot="5400000" flipV="1">
            <a:off x="6763385" y="6120765"/>
            <a:ext cx="102235" cy="317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125" name="肘形连接符 124"/>
          <p:cNvCxnSpPr>
            <a:endCxn id="114" idx="0"/>
          </p:cNvCxnSpPr>
          <p:nvPr/>
        </p:nvCxnSpPr>
        <p:spPr>
          <a:xfrm rot="5400000" flipV="1">
            <a:off x="6078220" y="6120130"/>
            <a:ext cx="104140" cy="317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130" name="矩形 129"/>
          <p:cNvSpPr/>
          <p:nvPr/>
        </p:nvSpPr>
        <p:spPr>
          <a:xfrm>
            <a:off x="6442710" y="4991735"/>
            <a:ext cx="1196975" cy="351155"/>
          </a:xfrm>
          <a:prstGeom prst="rect">
            <a:avLst/>
          </a:prstGeom>
          <a:solidFill>
            <a:srgbClr val="A04DA3"/>
          </a:solidFill>
          <a:effectLst>
            <a:softEdge rad="50800"/>
          </a:effectLst>
        </p:spPr>
        <p:txBody>
          <a:bodyPr rtlCol="0" anchor="ctr"/>
          <a:p>
            <a:pPr algn="ctr" defTabSz="457200"/>
            <a:r>
              <a:rPr lang="en-US" altLang="zh-CN" sz="12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en-US" altLang="zh-CN" sz="12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PM</a:t>
            </a:r>
            <a:endParaRPr lang="en-US" altLang="zh-CN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5180965" y="4995545"/>
            <a:ext cx="1196340" cy="351155"/>
          </a:xfrm>
          <a:prstGeom prst="rect">
            <a:avLst/>
          </a:prstGeom>
          <a:solidFill>
            <a:srgbClr val="A04DA3"/>
          </a:solidFill>
          <a:effectLst>
            <a:softEdge rad="50800"/>
          </a:effectLst>
        </p:spPr>
        <p:txBody>
          <a:bodyPr rtlCol="0" anchor="ctr"/>
          <a:p>
            <a:pPr algn="ctr" defTabSz="457200"/>
            <a:r>
              <a:rPr lang="en-US" altLang="zh-CN" sz="12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SAP</a:t>
            </a:r>
            <a:endParaRPr lang="en-US" altLang="zh-CN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10974070" y="4998720"/>
            <a:ext cx="387985" cy="368300"/>
          </a:xfrm>
          <a:prstGeom prst="rect">
            <a:avLst/>
          </a:prstGeom>
        </p:spPr>
        <p:txBody>
          <a:bodyPr vert="horz" wrap="square" lIns="48000" tIns="48000" rIns="48000" bIns="48000" rtlCol="0" anchor="t" anchorCtr="0">
            <a:noAutofit/>
          </a:bodyPr>
          <a:p>
            <a:pPr algn="ctr" defTabSz="914400"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…</a:t>
            </a:r>
            <a:endParaRPr lang="en-US" altLang="zh-CN" sz="1200" b="1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10537190" y="6171565"/>
            <a:ext cx="714375" cy="345440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altLang="en-US" sz="1200">
                <a:solidFill>
                  <a:sysClr val="windowText" lastClr="000000"/>
                </a:solidFill>
                <a:latin typeface="+mn-ea"/>
                <a:ea typeface="宋体" panose="02010600030101010101" pitchFamily="2" charset="-122"/>
                <a:cs typeface="+mn-ea"/>
              </a:rPr>
              <a:t>业务系统查询</a:t>
            </a:r>
            <a:endParaRPr lang="zh-CN" altLang="en-US" sz="120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40" name="肘形连接符 139"/>
          <p:cNvCxnSpPr>
            <a:stCxn id="105" idx="2"/>
            <a:endCxn id="139" idx="0"/>
          </p:cNvCxnSpPr>
          <p:nvPr/>
        </p:nvCxnSpPr>
        <p:spPr>
          <a:xfrm rot="5400000" flipV="1">
            <a:off x="9634855" y="4911725"/>
            <a:ext cx="192405" cy="2327275"/>
          </a:xfrm>
          <a:prstGeom prst="bentConnector3">
            <a:avLst>
              <a:gd name="adj1" fmla="val 50165"/>
            </a:avLst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141" name="文本框 140"/>
          <p:cNvSpPr txBox="1"/>
          <p:nvPr/>
        </p:nvSpPr>
        <p:spPr>
          <a:xfrm flipH="1">
            <a:off x="11243945" y="6172835"/>
            <a:ext cx="246380" cy="349250"/>
          </a:xfrm>
          <a:prstGeom prst="rect">
            <a:avLst/>
          </a:prstGeom>
        </p:spPr>
        <p:txBody>
          <a:bodyPr vert="horz" wrap="square" lIns="48000" tIns="48000" rIns="48000" bIns="48000" rtlCol="0" anchor="t" anchorCtr="0">
            <a:noAutofit/>
          </a:bodyPr>
          <a:p>
            <a:pPr algn="ctr" defTabSz="914400"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 smtClean="0">
                <a:solidFill>
                  <a:prstClr val="black"/>
                </a:solidFill>
                <a:latin typeface="+mn-ea"/>
              </a:rPr>
              <a:t>…</a:t>
            </a:r>
            <a:endParaRPr lang="en-US" altLang="zh-CN" sz="1200" b="1" dirty="0" smtClean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144" name="肘形连接符 143"/>
          <p:cNvCxnSpPr>
            <a:endCxn id="13" idx="0"/>
          </p:cNvCxnSpPr>
          <p:nvPr/>
        </p:nvCxnSpPr>
        <p:spPr>
          <a:xfrm>
            <a:off x="8411845" y="4871085"/>
            <a:ext cx="2482850" cy="12509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168" name="文本框 167"/>
          <p:cNvSpPr txBox="1"/>
          <p:nvPr/>
        </p:nvSpPr>
        <p:spPr>
          <a:xfrm>
            <a:off x="294005" y="485775"/>
            <a:ext cx="11927840" cy="852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痛点：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员工工作内容繁琐且低效，跨业务系统与通讯软件反复对齐。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价值：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数字员工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转为企业真实岗位，</a:t>
            </a:r>
            <a:r>
              <a:rPr lang="zh-CN" altLang="en-US" sz="1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保守估计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预计为企业节约人力成本千万以上</a:t>
            </a:r>
            <a:endParaRPr lang="zh-CN" altLang="en-US" sz="1600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773035" y="4995545"/>
            <a:ext cx="1196975" cy="351155"/>
          </a:xfrm>
          <a:prstGeom prst="rect">
            <a:avLst/>
          </a:prstGeom>
          <a:solidFill>
            <a:srgbClr val="A04DA3"/>
          </a:solidFill>
          <a:effectLst>
            <a:softEdge rad="50800"/>
          </a:effectLst>
        </p:spPr>
        <p:txBody>
          <a:bodyPr rtlCol="0" anchor="ctr"/>
          <a:p>
            <a:pPr algn="ctr" defTabSz="457200"/>
            <a:r>
              <a:rPr lang="en-US" altLang="zh-CN" sz="12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MOM</a:t>
            </a:r>
            <a:endParaRPr lang="en-US" altLang="zh-CN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37955" y="4995545"/>
            <a:ext cx="1196975" cy="351155"/>
          </a:xfrm>
          <a:prstGeom prst="rect">
            <a:avLst/>
          </a:prstGeom>
          <a:solidFill>
            <a:srgbClr val="A04DA3"/>
          </a:solidFill>
          <a:effectLst>
            <a:softEdge rad="50800"/>
          </a:effectLst>
        </p:spPr>
        <p:txBody>
          <a:bodyPr rtlCol="0" anchor="ctr"/>
          <a:p>
            <a:pPr algn="ctr" defTabSz="457200"/>
            <a:r>
              <a:rPr lang="en-US" altLang="zh-CN" sz="12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SRM</a:t>
            </a:r>
            <a:endParaRPr lang="en-US" altLang="zh-CN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肘形连接符 5"/>
          <p:cNvCxnSpPr>
            <a:stCxn id="89" idx="2"/>
          </p:cNvCxnSpPr>
          <p:nvPr/>
        </p:nvCxnSpPr>
        <p:spPr>
          <a:xfrm rot="5400000" flipV="1">
            <a:off x="8386445" y="4829810"/>
            <a:ext cx="337820" cy="317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7" name="肘形连接符 6"/>
          <p:cNvCxnSpPr/>
          <p:nvPr/>
        </p:nvCxnSpPr>
        <p:spPr>
          <a:xfrm rot="5400000" flipV="1">
            <a:off x="7006590" y="4931410"/>
            <a:ext cx="147955" cy="317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8" name="文本框 7"/>
          <p:cNvSpPr txBox="1"/>
          <p:nvPr/>
        </p:nvSpPr>
        <p:spPr>
          <a:xfrm>
            <a:off x="380365" y="2102485"/>
            <a:ext cx="4164330" cy="922020"/>
          </a:xfrm>
          <a:prstGeom prst="rect">
            <a:avLst/>
          </a:prstGeom>
        </p:spPr>
        <p:txBody>
          <a:bodyPr wrap="square" anchor="t">
            <a:spAutoFit/>
          </a:bodyPr>
          <a:p>
            <a:pPr lvl="0" algn="l" defTabSz="457200">
              <a:lnSpc>
                <a:spcPct val="150000"/>
              </a:lnSpc>
              <a:buClrTx/>
              <a:buSzTx/>
              <a:buFontTx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数字员工每日定时抓取客户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ERP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系统中的采购订单，自动录入本企业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SAP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系统，校验库存、生成发货单、更新物流状态。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457200">
              <a:lnSpc>
                <a:spcPct val="150000"/>
              </a:lnSpc>
              <a:buClrTx/>
              <a:buSzTx/>
              <a:buFontTx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异常订单自动触发预警邮件给相关负责人。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12420" y="1351915"/>
            <a:ext cx="1950085" cy="337185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anchor="t">
            <a:spAutoFit/>
          </a:bodyPr>
          <a:p>
            <a:pPr algn="l" defTabSz="457200"/>
            <a:r>
              <a:rPr lang="zh-CN" sz="16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行业应用案例</a:t>
            </a:r>
            <a:endParaRPr lang="zh-CN" sz="16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80365" y="3392805"/>
            <a:ext cx="4164330" cy="1198880"/>
          </a:xfrm>
          <a:prstGeom prst="rect">
            <a:avLst/>
          </a:prstGeom>
        </p:spPr>
        <p:txBody>
          <a:bodyPr wrap="square" anchor="t">
            <a:spAutoFit/>
          </a:bodyPr>
          <a:p>
            <a:pPr indent="0" algn="l" defTabSz="457200" fontAlgn="auto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数字员工通过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RPA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自动登录人民银行账户系统、企业信用信息公示系统，比对客户营业执照信息与银行留存资料是否一致。自动完成信息核对、异常标记、结果汇总并通知客户经理。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420" y="4601845"/>
            <a:ext cx="2950210" cy="348615"/>
          </a:xfrm>
          <a:prstGeom prst="rect">
            <a:avLst/>
          </a:prstGeom>
        </p:spPr>
        <p:txBody>
          <a:bodyPr wrap="square" anchor="t">
            <a:noAutofit/>
          </a:bodyPr>
          <a:p>
            <a:pPr lvl="0" algn="l" defTabSz="457200">
              <a:spcBef>
                <a:spcPts val="1000"/>
              </a:spcBef>
              <a:spcAft>
                <a:spcPts val="1000"/>
              </a:spcAft>
              <a:buClrTx/>
              <a:buSzTx/>
              <a:buFontTx/>
            </a:pPr>
            <a:r>
              <a:rPr lang="zh-CN" altLang="en-US" sz="1600">
                <a:solidFill>
                  <a:srgbClr val="2C3E50"/>
                </a:solidFill>
                <a:highlight>
                  <a:srgbClr val="00FFFF"/>
                </a:highlight>
                <a:latin typeface="-apple-system"/>
                <a:ea typeface="-apple-system"/>
                <a:sym typeface="+mn-ea"/>
              </a:rPr>
              <a:t>保险行业</a:t>
            </a:r>
            <a:r>
              <a:rPr lang="zh-CN" altLang="en-US" sz="1600">
                <a:solidFill>
                  <a:srgbClr val="2C3E50"/>
                </a:solidFill>
                <a:highlight>
                  <a:srgbClr val="00FFFF"/>
                </a:highlight>
                <a:latin typeface="-apple-system"/>
                <a:ea typeface="-apple-system"/>
                <a:sym typeface="+mn-ea"/>
              </a:rPr>
              <a:t>：</a:t>
            </a:r>
            <a:r>
              <a:rPr lang="zh-CN" altLang="en-US" sz="1600">
                <a:solidFill>
                  <a:srgbClr val="2C3E50"/>
                </a:solidFill>
                <a:highlight>
                  <a:srgbClr val="00FFFF"/>
                </a:highlight>
                <a:latin typeface="-apple-system"/>
                <a:ea typeface="-apple-system"/>
                <a:sym typeface="+mn-ea"/>
              </a:rPr>
              <a:t>理赔审核自动化</a:t>
            </a:r>
            <a:endParaRPr lang="zh-CN" altLang="en-US" sz="1600">
              <a:solidFill>
                <a:srgbClr val="2C3E50"/>
              </a:solidFill>
              <a:highlight>
                <a:srgbClr val="00FFFF"/>
              </a:highlight>
              <a:latin typeface="-apple-system"/>
              <a:ea typeface="-apple-system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5285" y="4883785"/>
            <a:ext cx="4210050" cy="1198880"/>
          </a:xfrm>
          <a:prstGeom prst="rect">
            <a:avLst/>
          </a:prstGeom>
        </p:spPr>
        <p:txBody>
          <a:bodyPr wrap="square" anchor="t">
            <a:spAutoFit/>
          </a:bodyPr>
          <a:p>
            <a:pPr indent="0" algn="l" defTabSz="457200" fontAlgn="auto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数字员工接收理赔申请后，自动调取医院电子病历、医保数据、保单信息，依据预设规则判断是否符合理赔条件。对简单案件自动完成赔付，复杂案件转交人工并附上初步分析报告。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2420" y="1765300"/>
            <a:ext cx="3201035" cy="337185"/>
          </a:xfrm>
          <a:prstGeom prst="rect">
            <a:avLst/>
          </a:prstGeom>
        </p:spPr>
        <p:txBody>
          <a:bodyPr wrap="square" anchor="t">
            <a:spAutoFit/>
          </a:bodyPr>
          <a:p>
            <a:pPr marL="0" indent="0" defTabSz="457200">
              <a:spcBef>
                <a:spcPts val="1000"/>
              </a:spcBef>
              <a:spcAft>
                <a:spcPts val="1000"/>
              </a:spcAft>
            </a:pPr>
            <a:r>
              <a:rPr lang="zh-CN" altLang="en-US" sz="1600">
                <a:solidFill>
                  <a:srgbClr val="2C3E50"/>
                </a:solidFill>
                <a:highlight>
                  <a:srgbClr val="00FFFF"/>
                </a:highlight>
                <a:latin typeface="-apple-system"/>
                <a:ea typeface="-apple-system"/>
                <a:sym typeface="+mn-ea"/>
              </a:rPr>
              <a:t>制造业：供应链订单处理</a:t>
            </a:r>
            <a:endParaRPr lang="zh-CN" altLang="en-US" sz="1600" dirty="0">
              <a:solidFill>
                <a:srgbClr val="2C3E50"/>
              </a:solidFill>
              <a:highlight>
                <a:srgbClr val="00FFFF"/>
              </a:highlight>
              <a:latin typeface="-apple-system"/>
              <a:ea typeface="-apple-system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2420" y="3060065"/>
            <a:ext cx="3523615" cy="368300"/>
          </a:xfrm>
          <a:prstGeom prst="rect">
            <a:avLst/>
          </a:prstGeom>
        </p:spPr>
        <p:txBody>
          <a:bodyPr wrap="square" anchor="t">
            <a:noAutofit/>
          </a:bodyPr>
          <a:p>
            <a:pPr lvl="0" algn="l" defTabSz="457200">
              <a:spcBef>
                <a:spcPts val="1000"/>
              </a:spcBef>
              <a:spcAft>
                <a:spcPts val="1000"/>
              </a:spcAft>
              <a:buClrTx/>
              <a:buSzTx/>
              <a:buFontTx/>
            </a:pPr>
            <a:r>
              <a:rPr lang="zh-CN" altLang="en-US" sz="1600">
                <a:solidFill>
                  <a:srgbClr val="2C3E50"/>
                </a:solidFill>
                <a:highlight>
                  <a:srgbClr val="00FFFF"/>
                </a:highlight>
                <a:latin typeface="-apple-system"/>
                <a:ea typeface="-apple-system"/>
                <a:sym typeface="+mn-ea"/>
              </a:rPr>
              <a:t>金融行业：银行对公账户年检自动化</a:t>
            </a:r>
            <a:endParaRPr lang="zh-CN" altLang="en-US" sz="1600">
              <a:solidFill>
                <a:srgbClr val="2C3E50"/>
              </a:solidFill>
              <a:highlight>
                <a:srgbClr val="00FFFF"/>
              </a:highlight>
              <a:latin typeface="-apple-system"/>
              <a:ea typeface="-apple-system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295890" y="4996180"/>
            <a:ext cx="1196975" cy="351155"/>
          </a:xfrm>
          <a:prstGeom prst="rect">
            <a:avLst/>
          </a:prstGeom>
          <a:solidFill>
            <a:srgbClr val="A04DA3"/>
          </a:solidFill>
          <a:effectLst>
            <a:softEdge rad="50800"/>
          </a:effectLst>
        </p:spPr>
        <p:txBody>
          <a:bodyPr rtlCol="0" anchor="ctr"/>
          <a:p>
            <a:pPr algn="ctr" defTabSz="457200"/>
            <a:r>
              <a:rPr lang="en-US" altLang="zh-CN" sz="12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lang="en-US" altLang="zh-CN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肘形连接符 13"/>
          <p:cNvCxnSpPr/>
          <p:nvPr/>
        </p:nvCxnSpPr>
        <p:spPr>
          <a:xfrm rot="5400000" flipV="1">
            <a:off x="9580245" y="4948555"/>
            <a:ext cx="147955" cy="317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15" name="矩形 14"/>
          <p:cNvSpPr/>
          <p:nvPr/>
        </p:nvSpPr>
        <p:spPr>
          <a:xfrm>
            <a:off x="5046980" y="2967355"/>
            <a:ext cx="6445885" cy="120713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p>
            <a:pPr algn="ctr" defTabSz="457200"/>
            <a:endParaRPr lang="zh-CN" altLang="en-US" sz="2400">
              <a:solidFill>
                <a:sysClr val="window" lastClr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134225" y="3069590"/>
            <a:ext cx="2811145" cy="404495"/>
          </a:xfrm>
          <a:prstGeom prst="roundRect">
            <a:avLst/>
          </a:prstGeom>
          <a:solidFill>
            <a:srgbClr val="A04DA3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altLang="en-US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</a:t>
            </a:r>
            <a:r>
              <a:rPr lang="zh-CN" altLang="en-US" sz="1200" b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支撑</a:t>
            </a:r>
            <a:endParaRPr lang="zh-CN" altLang="en-US" sz="1200" b="1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180965" y="3689985"/>
            <a:ext cx="1398270" cy="43370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en-US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RPA</a:t>
            </a:r>
            <a:r>
              <a:rPr lang="zh-CN" altLang="en-US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  <a:endParaRPr lang="zh-CN" altLang="en-US" sz="12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630160" y="3678555"/>
            <a:ext cx="1600200" cy="43370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流程</a:t>
            </a:r>
            <a:r>
              <a:rPr lang="zh-CN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引擎</a:t>
            </a:r>
            <a:endParaRPr lang="zh-CN" sz="12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724390" y="3678555"/>
            <a:ext cx="1562100" cy="433705"/>
          </a:xfrm>
          <a:prstGeom prst="rect">
            <a:avLst/>
          </a:prstGeom>
          <a:solidFill>
            <a:srgbClr val="C4652D">
              <a:lumMod val="20000"/>
              <a:lumOff val="80000"/>
            </a:srgbClr>
          </a:solidFill>
          <a:ln w="12700" cap="flat" cmpd="sng" algn="ctr">
            <a:solidFill>
              <a:srgbClr val="53548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 defTabSz="457200"/>
            <a:r>
              <a:rPr lang="zh-CN" altLang="en-US" sz="12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任务调度中心</a:t>
            </a:r>
            <a:endParaRPr lang="zh-CN" altLang="en-US" sz="12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肘形连接符 20"/>
          <p:cNvCxnSpPr>
            <a:stCxn id="16" idx="2"/>
            <a:endCxn id="17" idx="0"/>
          </p:cNvCxnSpPr>
          <p:nvPr/>
        </p:nvCxnSpPr>
        <p:spPr>
          <a:xfrm rot="5400000">
            <a:off x="7102158" y="2252028"/>
            <a:ext cx="215900" cy="2660015"/>
          </a:xfrm>
          <a:prstGeom prst="bentConnector3">
            <a:avLst>
              <a:gd name="adj1" fmla="val 49853"/>
            </a:avLst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22" name="肘形连接符 21"/>
          <p:cNvCxnSpPr/>
          <p:nvPr/>
        </p:nvCxnSpPr>
        <p:spPr>
          <a:xfrm rot="5400000" flipV="1">
            <a:off x="8482965" y="3632835"/>
            <a:ext cx="113665" cy="3175"/>
          </a:xfrm>
          <a:prstGeom prst="bentConnector2">
            <a:avLst/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24" name="肘形连接符 23"/>
          <p:cNvCxnSpPr>
            <a:stCxn id="16" idx="2"/>
            <a:endCxn id="19" idx="0"/>
          </p:cNvCxnSpPr>
          <p:nvPr/>
        </p:nvCxnSpPr>
        <p:spPr>
          <a:xfrm rot="5400000" flipV="1">
            <a:off x="9420225" y="2593340"/>
            <a:ext cx="204470" cy="1965325"/>
          </a:xfrm>
          <a:prstGeom prst="bentConnector3">
            <a:avLst>
              <a:gd name="adj1" fmla="val 49845"/>
            </a:avLst>
          </a:prstGeom>
          <a:noFill/>
          <a:ln w="12700" cap="flat" cmpd="sng" algn="ctr">
            <a:solidFill>
              <a:srgbClr val="53548A"/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20" name="文本框 19"/>
          <p:cNvSpPr txBox="1"/>
          <p:nvPr/>
        </p:nvSpPr>
        <p:spPr>
          <a:xfrm>
            <a:off x="5046980" y="1337945"/>
            <a:ext cx="1950085" cy="337185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anchor="t">
            <a:spAutoFit/>
          </a:bodyPr>
          <a:p>
            <a:pPr algn="l" defTabSz="457200"/>
            <a:r>
              <a:rPr lang="zh-CN" sz="16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</a:t>
            </a:r>
            <a:r>
              <a:rPr lang="zh-CN" sz="16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架构</a:t>
            </a:r>
            <a:endParaRPr lang="zh-CN" sz="16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458335" y="14859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数字员工走进百行千业，让智能生产力</a:t>
            </a:r>
            <a:r>
              <a:rPr lang="en-US" altLang="zh-CN" sz="1600" b="1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人人可及</a:t>
            </a:r>
            <a:r>
              <a:rPr lang="en-US" altLang="zh-CN" sz="1600" b="1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endParaRPr lang="en-US" altLang="zh-CN" sz="1600" b="1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22"/>
          </p:nvPr>
        </p:nvSpPr>
        <p:spPr/>
        <p:txBody>
          <a:bodyPr/>
          <a:p>
            <a:pPr marL="0" indent="0"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关键步骤拆解及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RASIC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矩阵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532765" y="994410"/>
          <a:ext cx="1112647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680"/>
                <a:gridCol w="3159125"/>
                <a:gridCol w="2413117"/>
                <a:gridCol w="1023880"/>
                <a:gridCol w="1430655"/>
                <a:gridCol w="715010"/>
                <a:gridCol w="792366"/>
                <a:gridCol w="850900"/>
              </a:tblGrid>
              <a:tr h="492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阶段目标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进展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R-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Responsible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执行人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A-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Accountable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审批人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S-</a:t>
                      </a:r>
                      <a:endParaRPr lang="en-US" alt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Support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协助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者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I-</a:t>
                      </a:r>
                      <a:endParaRPr lang="en-US" alt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Inform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告知人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C-</a:t>
                      </a:r>
                      <a:endParaRPr lang="en-US" alt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Consult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建议者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ibodor</a:t>
                      </a: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软件</a:t>
                      </a: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消息</a:t>
                      </a: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获取</a:t>
                      </a: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、内容智能解读、干系人自动触达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已实现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汇报人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同事A、同事B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同事C、同事D等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/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/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ibodor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通讯软件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已实现，前端界面、后台管理平台联调完毕，实现通讯功能，命名为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NewBodor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汇报人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同事E、同事F、同事B、同事A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将数字员工加入通讯软件为全体同事提供服务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正在研发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过程中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汇报人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同事E、同事F、同事B、同事A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NewBodor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软件压力测试、安全测试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待开展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AI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部门测试人员、安全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同事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同事E、同事F、同事B、同事A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汇报人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NewBodor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软件插入现有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ibodor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平台主页、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BPA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BPM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EHR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CRM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等功能，通过上下文</a:t>
                      </a: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自然语言理解意图，自动发起相关系统工单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待开展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汇报人、同事A、同事G、同事H等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同事F、同事B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原有自研多维表格功能插入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NewBodor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同事I2026年8月已完成基础功能开发，待融入NewBodor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同事I、同事G等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同事F、同事B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原有云盘功能与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NewBodor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深度融合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同事J已完成基础功能开发，待融入NewBodor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/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同事J、同事H等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同事F、同事B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汇报人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41985" y="626110"/>
            <a:ext cx="8091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数字员工整体规划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个阶段逐步完成，各阶段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RASIC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如下：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22"/>
          </p:nvPr>
        </p:nvSpPr>
        <p:spPr>
          <a:xfrm>
            <a:off x="353060" y="112395"/>
            <a:ext cx="8289290" cy="318770"/>
          </a:xfrm>
        </p:spPr>
        <p:txBody>
          <a:bodyPr/>
          <a:p>
            <a:pPr marL="0" indent="0"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步骤一：内部通讯软件消息获取、内容智能解读、干系人自动触达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buNone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灯片编号占位符 1"/>
          <p:cNvSpPr>
            <a:spLocks noGrp="1"/>
          </p:cNvSpPr>
          <p:nvPr/>
        </p:nvSpPr>
        <p:spPr>
          <a:xfrm>
            <a:off x="10769600" y="6671310"/>
            <a:ext cx="1422400" cy="1873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defPPr>
              <a:defRPr lang="zh-CN"/>
            </a:defPPr>
            <a:lvl1pPr marL="0" algn="r" defTabSz="914400" rtl="0" eaLnBrk="1" latinLnBrk="0" hangingPunct="1">
              <a:lnSpc>
                <a:spcPct val="100000"/>
              </a:lnSpc>
              <a:defRPr sz="11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765"/>
            <a:fld id="{8E5AB401-1728-4F42-B94D-D80BBC5D1E6A}" type="slidenum">
              <a:rPr lang="zh-CN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</a:fld>
            <a:r>
              <a:rPr lang="en-US" altLang="zh-CN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/12</a:t>
            </a:r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294005" y="485775"/>
            <a:ext cx="11383010" cy="23044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实际使用场景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0"/>
              </a:spcBef>
            </a:pP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客服经理每天需要根据上级或者系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统发送应收为收数据，发送消息给对应工单的跟踪客服，由客服对客户的应收款项进行催收，有时多达几十个不同同事，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工作内容繁琐且低效。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0"/>
              </a:spcBef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供应链同事需要每天跟踪采购同事，采购同事跟踪供应商相关物料库存、供货情况，十余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同事每天的主要工作就是跨信息系统、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ibodor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、微信、电话等通讯方式的基础繁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冗对接。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0"/>
              </a:spcBef>
            </a:pPr>
            <a:endParaRPr lang="en-US" altLang="zh-CN" sz="1600" b="1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3060" y="2529205"/>
            <a:ext cx="11042650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defTabSz="45720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解决方案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通讯员技能功能介绍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 algn="l" defTabSz="457200" fontAlgn="auto">
              <a:lnSpc>
                <a:spcPct val="150000"/>
              </a:lnSpc>
            </a:pP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给任意人员/群发送消息 (单发)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 algn="l" defTabSz="457200" fontAlgn="auto"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批量群发消息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(Batch Send)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 algn="l" defTabSz="457200" fontAlgn="auto"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表格拆解并通知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(Table Notification)</a:t>
            </a:r>
            <a:endParaRPr lang="en-US" alt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 algn="l" defTabSz="457200" fontAlgn="auto"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其他功能</a:t>
            </a:r>
            <a:endParaRPr lang="en-US" alt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457200"/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upport-copilot 技能介绍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智能识别、自动化执行、安全分享和精准控制于一体的智能办公助手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83350" y="6740525"/>
            <a:ext cx="4064000" cy="914400"/>
          </a:xfrm>
          <a:prstGeom prst="rect">
            <a:avLst/>
          </a:prstGeom>
        </p:spPr>
        <p:txBody>
          <a:bodyPr wrap="square"/>
          <a:p>
            <a:pPr algn="l" defTabSz="914400"/>
            <a:endParaRPr lang="zh-CN" altLang="en-US" sz="5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3515" y="925195"/>
            <a:ext cx="79400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defTabSz="457200"/>
            <a:r>
              <a: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给任意人员/群发送消息 (单发)</a:t>
            </a:r>
            <a:endParaRPr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defTabSz="457200"/>
            <a:r>
              <a: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**用途**：向指定的个人或群聊发送一条通知。</a:t>
            </a:r>
            <a:endParaRPr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defTabSz="457200"/>
            <a:r>
              <a: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**方式**：通过命令行指定接收人（姓名/群名）和消息内容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905" y="2498725"/>
            <a:ext cx="7482840" cy="27025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095" y="3314065"/>
            <a:ext cx="3124200" cy="400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36900" y="5699760"/>
            <a:ext cx="6096000" cy="460375"/>
          </a:xfrm>
          <a:prstGeom prst="rect">
            <a:avLst/>
          </a:prstGeom>
        </p:spPr>
        <p:txBody>
          <a:bodyPr wrap="square" anchor="t">
            <a:spAutoFit/>
          </a:bodyPr>
          <a:p>
            <a:pPr marL="0" lvl="1" indent="0" algn="ctr" defTabSz="457200" fontAlgn="auto">
              <a:lnSpc>
                <a:spcPct val="150000"/>
              </a:lnSpc>
            </a:pPr>
            <a:r>
              <a:rPr lang="zh-CN" altLang="en-US" sz="1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客服场景数字员工实际应用案例</a:t>
            </a:r>
            <a:endParaRPr lang="zh-CN" altLang="en-US" sz="16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 noChangeAspect="1"/>
          </p:cNvSpPr>
          <p:nvPr>
            <p:ph type="title"/>
          </p:nvPr>
        </p:nvSpPr>
        <p:spPr/>
        <p:txBody>
          <a:bodyPr/>
          <a:p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upport-copilot 技能介绍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endParaRPr lang="en-US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>
            <a:spLocks noChangeAspect="1"/>
          </p:cNvSpPr>
          <p:nvPr/>
        </p:nvSpPr>
        <p:spPr>
          <a:xfrm>
            <a:off x="6483350" y="6740525"/>
            <a:ext cx="4064000" cy="914400"/>
          </a:xfrm>
          <a:prstGeom prst="rect">
            <a:avLst/>
          </a:prstGeom>
        </p:spPr>
        <p:txBody>
          <a:bodyPr wrap="square"/>
          <a:p>
            <a:pPr algn="l" defTabSz="914400"/>
            <a:endParaRPr lang="zh-CN" altLang="en-US" sz="5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>
            <a:spLocks noChangeAspect="1"/>
          </p:cNvSpPr>
          <p:nvPr/>
        </p:nvSpPr>
        <p:spPr>
          <a:xfrm>
            <a:off x="245745" y="925195"/>
            <a:ext cx="92589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defTabSz="457200"/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批量群发消息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(Batch Send)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defTabSz="457200"/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用途：将同一条消息一次性发送给多个个人和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或多个群聊。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defTabSz="457200"/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方式：支持混合名单（个人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群），可从命令行或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JSON 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文件中读取名单。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610" y="2070735"/>
            <a:ext cx="6096000" cy="2857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865" y="3269615"/>
            <a:ext cx="3695700" cy="850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36900" y="5699760"/>
            <a:ext cx="6096000" cy="460375"/>
          </a:xfrm>
          <a:prstGeom prst="rect">
            <a:avLst/>
          </a:prstGeom>
        </p:spPr>
        <p:txBody>
          <a:bodyPr wrap="square" anchor="t">
            <a:spAutoFit/>
          </a:bodyPr>
          <a:p>
            <a:pPr marL="0" lvl="1" indent="0" algn="ctr" defTabSz="457200" fontAlgn="auto">
              <a:lnSpc>
                <a:spcPct val="150000"/>
              </a:lnSpc>
            </a:pPr>
            <a:r>
              <a:rPr lang="zh-CN" altLang="en-US" sz="1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客服场景数字员工实际应用案例</a:t>
            </a:r>
            <a:endParaRPr lang="zh-CN" altLang="en-US" sz="16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upport-copilot 技能介绍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83350" y="6740525"/>
            <a:ext cx="4064000" cy="914400"/>
          </a:xfrm>
          <a:prstGeom prst="rect">
            <a:avLst/>
          </a:prstGeom>
        </p:spPr>
        <p:txBody>
          <a:bodyPr wrap="square"/>
          <a:p>
            <a:pPr algn="l" defTabSz="914400"/>
            <a:endParaRPr lang="zh-CN" altLang="en-US" sz="5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1780" y="925195"/>
            <a:ext cx="1138809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defTabSz="457200"/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表格拆解并通知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(Table Notification)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defTabSz="457200"/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用途：处理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Excel/CSV 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表格，按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经理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负责人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等人员列自动拆分，并给每位相关人员发送专属的子表格和通知消息。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defTabSz="457200"/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流程：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defTabSz="457200"/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自动识别：根据预设关键词（如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经理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负责人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）自动判断表格中的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人员列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defTabSz="457200"/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拆分表格：为每个人生成一张专属的子表格。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defTabSz="457200"/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自动发送：向每位人员发送消息，并附上其对应的子表格作为附件。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870" y="3665220"/>
            <a:ext cx="3168650" cy="1136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95" y="2923540"/>
            <a:ext cx="4532630" cy="26936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136900" y="5699760"/>
            <a:ext cx="6096000" cy="460375"/>
          </a:xfrm>
          <a:prstGeom prst="rect">
            <a:avLst/>
          </a:prstGeom>
        </p:spPr>
        <p:txBody>
          <a:bodyPr wrap="square" anchor="t">
            <a:spAutoFit/>
          </a:bodyPr>
          <a:p>
            <a:pPr marL="0" lvl="1" indent="0" algn="ctr" defTabSz="457200" fontAlgn="auto">
              <a:lnSpc>
                <a:spcPct val="150000"/>
              </a:lnSpc>
            </a:pPr>
            <a:r>
              <a:rPr lang="zh-CN" altLang="en-US" sz="1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客服场景数字员工实际应用案例</a:t>
            </a:r>
            <a:endParaRPr lang="zh-CN" altLang="en-US" sz="16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upport-copilot 技能介绍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83350" y="6740525"/>
            <a:ext cx="4064000" cy="914400"/>
          </a:xfrm>
          <a:prstGeom prst="rect">
            <a:avLst/>
          </a:prstGeom>
        </p:spPr>
        <p:txBody>
          <a:bodyPr wrap="square"/>
          <a:p>
            <a:pPr algn="l" defTabSz="914400"/>
            <a:endParaRPr lang="zh-CN" altLang="en-US" sz="5400" dirty="0"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1780" y="925195"/>
            <a:ext cx="11388090" cy="5215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其他功能：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28650" lvl="1" indent="-171450" defTabSz="457200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消息自动添加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AI 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助手后缀</a:t>
            </a:r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功能：每次发送的消息末尾，会自动追加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【本消息由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***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助手发送】。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员工名来源：系统会自动从 iBODOR 首页读取当前登录用户的姓名（如“汇报人”），无需手动配置。用户也可在 config.json 中手动指定 sender_name。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拆解的子表格命名加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"AI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endParaRPr lang="en-US" altLang="zh-CN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功能：由技能自动生成的子表格文件名，会包含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AI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字样（例如：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20261016_1010_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张三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_AI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.xlsx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），便于区分和追溯。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28650" lvl="1" indent="-171450" defTabSz="457200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SSO 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工号自动继承</a:t>
            </a:r>
            <a:endParaRPr lang="en-US" altLang="zh-CN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功能：当用户在小邦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Claw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平台完成扫码登录（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SSO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）后，技能会自动继承该工号作为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iBODOR 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的登录账号，用户只需首次输入一次密码即可，后续无需重复输入账号。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28650" lvl="1" indent="-171450" defTabSz="457200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后台静默发送</a:t>
            </a:r>
            <a:endParaRPr lang="en-US" altLang="zh-CN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功能：所有发送操作（单发、群发、表格通知）均在后台静默执行，不会弹出浏览器窗口，避免干扰用户桌面工作。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28650" lvl="1" indent="-171450" defTabSz="457200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密码错误即时停止</a:t>
            </a:r>
            <a:endParaRPr lang="en-US" altLang="zh-CN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功能：如果登录时检测到账号或密码错误，系统会立即停止尝试，并在日志中清晰提示错误原因，不会反复弹窗或重试。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28650" lvl="1" indent="-171450" defTabSz="457200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避免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同名群聊误发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问题：当群聊名称与某位员工姓名相同或包含时，系统可能误将本应发给员工的消息发送到群聊中。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修复：已通过精确匹配和优先级策略彻底解决此问题。系统现在会：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优先匹配单聊：当存在同名的单聊和群聊时，优先选择单聊。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defTabSz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精确校验：确保打开的聊天窗口标题与目标名称完全一致，避免误判。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二：自研公司内部通讯软件（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NewBodor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）进展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8635" y="799465"/>
            <a:ext cx="11414760" cy="1297940"/>
          </a:xfrm>
          <a:prstGeom prst="rect">
            <a:avLst/>
          </a:prstGeom>
        </p:spPr>
        <p:txBody>
          <a:bodyPr/>
          <a:p>
            <a:pPr indent="0" algn="l" defTabSz="457200" fontAlgn="auto">
              <a:spcAft>
                <a:spcPts val="3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目标：将数字员工加入通讯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软件为全体同事提供服务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defTabSz="457200" fontAlgn="auto">
              <a:spcAft>
                <a:spcPts val="30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痛点：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当前公司内部员工使用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ibodor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进行通信，而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ibodor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供应商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云之家计费方式为按照普通员工计费方式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defTabSz="457200" fontAlgn="auto">
              <a:spcAft>
                <a:spcPts val="30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2.ibodor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与外部飞书等通讯软件的功能差距较大，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不具备飞书多维表格（含低代码平台）、在线文档、文档自动通知相关人员、实时翻译、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LLM wiki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等强大办公功能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，极大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地落后于时代发展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脚步。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defTabSz="457200" fontAlgn="auto">
              <a:spcAft>
                <a:spcPts val="30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登录功能经常出现扫码无法弹出，登录不上（无网络问题等其他情况）等低级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BUG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，经反复向运维反馈，无法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解决。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defTabSz="457200" fontAlgn="auto">
              <a:spcAft>
                <a:spcPts val="3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自研优势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defTabSz="457200" fontAlgn="auto">
              <a:spcAft>
                <a:spcPts val="30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节约外采费用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全线自主可控；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可自主加入数字员工；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可作为可控便捷入口加入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CSS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MOM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等自研信息化系统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，根据上下文对话，自然语言发起工单。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15" y="3035300"/>
            <a:ext cx="5511800" cy="34899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540" y="3035300"/>
            <a:ext cx="5564674" cy="348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步骤二：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企业管理后台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798955"/>
            <a:ext cx="3755390" cy="22574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0975" y="1038225"/>
            <a:ext cx="10643870" cy="914400"/>
          </a:xfrm>
          <a:prstGeom prst="rect">
            <a:avLst/>
          </a:prstGeom>
        </p:spPr>
        <p:txBody>
          <a:bodyPr wrap="square"/>
          <a:p>
            <a:pPr algn="l"/>
            <a:r>
              <a:rPr lang="zh-CN" altLang="en-US" dirty="0">
                <a:solidFill>
                  <a:schemeClr val="bg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企业管理后台展示：网址http://localhost:9889/admin</a:t>
            </a:r>
            <a:r>
              <a:rPr lang="zh-CN" altLang="en-US" dirty="0">
                <a:solidFill>
                  <a:schemeClr val="bg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/>
            </a:r>
            <a:r>
              <a:rPr lang="en-US" altLang="zh-CN" dirty="0">
                <a:solidFill>
                  <a:schemeClr val="bg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/>
            </a:r>
            <a:endParaRPr lang="en-US" altLang="zh-CN" dirty="0">
              <a:solidFill>
                <a:schemeClr val="bg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  <a:p>
            <a:pPr algn="l"/>
            <a:r>
              <a:rPr lang="zh-CN" altLang="en-US" dirty="0">
                <a:solidFill>
                  <a:schemeClr val="bg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登录账号：admin@example.com / ********（超管·汇报人）</a:t>
            </a:r>
            <a:r>
              <a:rPr lang="en-US" altLang="zh-CN" dirty="0">
                <a:solidFill>
                  <a:schemeClr val="bg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/>
            </a:r>
            <a:r>
              <a:rPr lang="zh-CN" altLang="en-US" dirty="0">
                <a:solidFill>
                  <a:schemeClr val="bg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/>
            </a:r>
            <a:r>
              <a:rPr lang="en-US" altLang="zh-CN" dirty="0">
                <a:solidFill>
                  <a:schemeClr val="bg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/>
            </a:r>
            <a:r>
              <a:rPr lang="zh-CN" altLang="en-US" dirty="0">
                <a:solidFill>
                  <a:schemeClr val="bg1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/>
            </a:r>
            <a:endParaRPr lang="zh-CN" altLang="en-US" dirty="0">
              <a:solidFill>
                <a:schemeClr val="bg1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740" y="1912938"/>
            <a:ext cx="5015865" cy="23666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245928"/>
            <a:ext cx="3886835" cy="19297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6048375" y="3999230"/>
            <a:ext cx="5142230" cy="25438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数字员工进展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0" y="1765300"/>
            <a:ext cx="6806565" cy="42729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5800" y="1088708"/>
            <a:ext cx="5080000" cy="2522855"/>
          </a:xfrm>
          <a:prstGeom prst="rect">
            <a:avLst/>
          </a:prstGeom>
        </p:spPr>
        <p:txBody>
          <a:bodyPr>
            <a:spAutoFit/>
          </a:bodyPr>
          <a:p>
            <a:pPr indent="0" fontAlgn="auto">
              <a:spcAft>
                <a:spcPts val="60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完全自研、可离线运行的企业数字员工协同管理平台</a:t>
            </a:r>
            <a:endParaRPr lang="zh-CN" altLang="en-US" sz="1600" b="0" i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 sz="16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16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数字员工运行日志，</a:t>
            </a:r>
            <a:endParaRPr lang="zh-CN" altLang="en-US" sz="1600" b="0" i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 sz="16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16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审批数字员工的</a:t>
            </a:r>
            <a:r>
              <a:rPr lang="en-US" altLang="zh-CN" sz="16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编制</a:t>
            </a:r>
            <a:r>
              <a:rPr lang="en-US" altLang="zh-CN" sz="16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endParaRPr lang="en-US" altLang="zh-CN" sz="16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 sz="16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sz="16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审批跨专业资源分配与优先级</a:t>
            </a:r>
            <a:endParaRPr lang="zh-CN" sz="16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 sz="16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</a:t>
            </a:r>
            <a:r>
              <a:rPr lang="zh-CN" sz="16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裁定数字员工与人类员工之间的职责边界</a:t>
            </a:r>
            <a:endParaRPr lang="zh-CN" sz="16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 sz="16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</a:t>
            </a:r>
            <a:r>
              <a:rPr lang="zh-CN" altLang="en-US" sz="16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数字员工的入职与离职</a:t>
            </a:r>
            <a:endParaRPr lang="zh-CN" sz="16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en-US" altLang="zh-CN" sz="16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/>
            <a:endParaRPr lang="en-US" altLang="zh-CN" sz="1600" b="0" i="0">
              <a:solidFill>
                <a:schemeClr val="bg1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相关信息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通讯软件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对比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05600" y="917575"/>
            <a:ext cx="4965700" cy="4307840"/>
          </a:xfrm>
          <a:prstGeom prst="rect">
            <a:avLst/>
          </a:prstGeom>
        </p:spPr>
        <p:txBody>
          <a:bodyPr wrap="square" anchor="t">
            <a:spAutoFit/>
          </a:bodyPr>
          <a:p>
            <a:pPr algn="l"/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‌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📊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当前供应商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云之家详细信息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云之家网络（重庆）有限公司目前属于小微企业，员工数为171人‌，注册资本1355.6万元，成立于2014年8月19日，法定代表人为法定代表人，总部在重庆。‌‌</a:t>
            </a:r>
            <a:r>
              <a:rPr lang="zh-CN" altLang="en-US" sz="16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zh-CN" altLang="en-US" sz="16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en-US" altLang="zh-CN" sz="16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zh-CN" altLang="en-US" sz="16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员工规模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人，属小型企业。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注册资本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1355.6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万元人民币。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企业划型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：工商登记标签为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小微企业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，同时是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年认定的高新技术企业。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股权背景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：金蝶国际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0.68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亿元收购云之家约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63%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股权，现为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金蝶控股子公司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‌‌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核心优势：</a:t>
            </a:r>
            <a:r>
              <a:rPr lang="zh-CN" altLang="en-US" sz="1600" ker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钉钉、飞书、企业微信合计覆盖约</a:t>
            </a:r>
            <a:r>
              <a:rPr lang="en-US" altLang="zh-CN" sz="1600" ker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92%</a:t>
            </a:r>
            <a:r>
              <a:rPr lang="zh-CN" altLang="en-US" sz="1600" ker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的协同办公市场，云之家低于</a:t>
            </a:r>
            <a:r>
              <a:rPr lang="en-US" altLang="zh-CN" sz="1600" ker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8%</a:t>
            </a:r>
            <a:r>
              <a:rPr lang="zh-CN" altLang="en-US" sz="1600" ker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，只能走差异化路线，深度绑定</a:t>
            </a:r>
            <a:r>
              <a:rPr lang="zh-CN" altLang="en-US" sz="1600" kern="0">
                <a:solidFill>
                  <a:srgbClr val="2440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金蝶</a:t>
            </a:r>
            <a:r>
              <a:rPr lang="en-US" altLang="zh-CN" sz="1600" kern="0">
                <a:solidFill>
                  <a:srgbClr val="2440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ERP</a:t>
            </a:r>
            <a:r>
              <a:rPr lang="zh-CN" altLang="en-US" sz="1600" ker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，主打“业务协同”，在制造、医药、房地产等对数据安全和系统集成要求高的中大型企业里很稳，但我司并未采购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99375" y="6259830"/>
            <a:ext cx="430022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信息来源：</a:t>
            </a:r>
            <a:r>
              <a:rPr lang="en-US" altLang="zh-CN" sz="16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QuestMobile 2025 </a:t>
            </a:r>
            <a:endParaRPr lang="en-US" altLang="zh-CN" sz="16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79413" y="1241298"/>
          <a:ext cx="6073775" cy="5183505"/>
        </p:xfrm>
        <a:graphic>
          <a:graphicData uri="http://schemas.openxmlformats.org/drawingml/2006/table">
            <a:tbl>
              <a:tblPr/>
              <a:tblGrid>
                <a:gridCol w="1112950"/>
                <a:gridCol w="838333"/>
                <a:gridCol w="825404"/>
                <a:gridCol w="867294"/>
                <a:gridCol w="1316355"/>
                <a:gridCol w="1113297"/>
              </a:tblGrid>
              <a:tr h="153035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维度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钉钉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企业微信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飞书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Teams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云之家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53670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阵营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阿里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腾讯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字节跳动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微软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金蝶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145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月活用户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~2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亿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~1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亿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~3000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全球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3.2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亿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；中国未单列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未单列（官网口径 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4200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万注册用户）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7685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市场份额（覆盖率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/MAU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33%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剩余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8%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缝隙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市场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剩余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8%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缝隙市场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130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企业组织数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2600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1400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未公开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财富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100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93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350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万家（注册）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核心基因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管理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考勤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审批、低代码（宜搭）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微信生态、私域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客户连接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文档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多维表格协作、新经济企业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Office/Windows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生态、跨国企业、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Copilot AI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ERP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深集成、中大型企业、私有化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865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商业化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订阅收入 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2025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财年 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亿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年收入翻倍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年化订阅 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亿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M365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订阅捆绑（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Copilot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席位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2000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并入金蝶订阅体系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145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典型客户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一汽大众、立白、三菱电梯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零售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服务业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蔚来、理想、小米汽车、茶饮美妆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外企、跨国企业、财富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100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万科、海尔、格力、河钢、温氏、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OPPO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部署方式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公有云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公有云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公有云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公有云（世纪互联运营国内版）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公有云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私有云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混合云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87120" y="793115"/>
            <a:ext cx="4127500" cy="241300"/>
          </a:xfrm>
          <a:prstGeom prst="rect">
            <a:avLst/>
          </a:prstGeom>
        </p:spPr>
        <p:txBody>
          <a:bodyPr/>
          <a:p>
            <a:pPr algn="l"/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年通讯软件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市场信息对比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相关信息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-NewBodor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实现原理（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REA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技术）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1000" y="915035"/>
            <a:ext cx="11619230" cy="337185"/>
          </a:xfrm>
          <a:prstGeom prst="rect">
            <a:avLst/>
          </a:prstGeom>
        </p:spPr>
        <p:txBody>
          <a:bodyPr wrap="square" anchor="t">
            <a:spAutoFit/>
          </a:bodyPr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REA：给 Agent 装上一套逆向工程的手脚</a:t>
            </a:r>
            <a:endParaRPr lang="en-US" altLang="en-US" sz="16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9900" y="1365250"/>
            <a:ext cx="11430000" cy="673100"/>
          </a:xfrm>
          <a:prstGeom prst="rect">
            <a:avLst/>
          </a:prstGeom>
        </p:spPr>
        <p:txBody>
          <a:bodyPr wrap="square" anchor="t">
            <a:spAutoFit/>
          </a:bodyPr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它本身不做反编译，而是把 Ghidra / Hopper / IDA 等专业引擎通过 </a:t>
            </a:r>
            <a:r>
              <a:rPr lang="en-US" sz="1150" b="1" dirty="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MCP 协议</a:t>
            </a:r>
            <a:r>
              <a:rPr lang="en-US" sz="11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接给 AI 编码智能体，并配好一套 workflow 指引——告诉 Agent 什么时候该用哪个工具、如何保留证据。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一句话：</a:t>
            </a:r>
            <a:r>
              <a:rPr lang="en-US" sz="1150" b="1" dirty="0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「AI 工具的价值，在于把难用的专业工具，变成 Agent 用得动的接口。」</a:t>
            </a:r>
            <a:endParaRPr lang="en-US" altLang="en-US" sz="1150" b="1" dirty="0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5" name="Shape 27"/>
          <p:cNvSpPr/>
          <p:nvPr/>
        </p:nvSpPr>
        <p:spPr>
          <a:xfrm>
            <a:off x="9355328" y="816483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355328" y="887222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32万+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69628" y="1117092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GitHub 星</a:t>
            </a:r>
            <a:endParaRPr lang="en-US" sz="850" dirty="0"/>
          </a:p>
        </p:txBody>
      </p:sp>
      <p:sp>
        <p:nvSpPr>
          <p:cNvPr id="12" name="Shape 3"/>
          <p:cNvSpPr/>
          <p:nvPr/>
        </p:nvSpPr>
        <p:spPr>
          <a:xfrm>
            <a:off x="1084580" y="2400300"/>
            <a:ext cx="15361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13" name="Shape 4"/>
          <p:cNvSpPr/>
          <p:nvPr/>
        </p:nvSpPr>
        <p:spPr>
          <a:xfrm>
            <a:off x="1678940" y="2528316"/>
            <a:ext cx="347472" cy="347472"/>
          </a:xfrm>
          <a:prstGeom prst="ellipse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14" name="Text 5"/>
          <p:cNvSpPr/>
          <p:nvPr/>
        </p:nvSpPr>
        <p:spPr>
          <a:xfrm>
            <a:off x="1678940" y="25283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6"/>
          <p:cNvSpPr/>
          <p:nvPr/>
        </p:nvSpPr>
        <p:spPr>
          <a:xfrm>
            <a:off x="1212596" y="29672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路由目标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1212596" y="324154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open_binary / analyze_javascript_application</a:t>
            </a:r>
            <a:endParaRPr lang="en-US" sz="850" dirty="0"/>
          </a:p>
        </p:txBody>
      </p:sp>
      <p:sp>
        <p:nvSpPr>
          <p:cNvPr id="17" name="Text 8"/>
          <p:cNvSpPr/>
          <p:nvPr/>
        </p:nvSpPr>
        <p:spPr>
          <a:xfrm>
            <a:off x="2602484" y="293065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C3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Shape 9"/>
          <p:cNvSpPr/>
          <p:nvPr/>
        </p:nvSpPr>
        <p:spPr>
          <a:xfrm>
            <a:off x="2767076" y="2400300"/>
            <a:ext cx="15361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19" name="Shape 10"/>
          <p:cNvSpPr/>
          <p:nvPr/>
        </p:nvSpPr>
        <p:spPr>
          <a:xfrm>
            <a:off x="3361436" y="2528316"/>
            <a:ext cx="347472" cy="347472"/>
          </a:xfrm>
          <a:prstGeom prst="ellipse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0" name="Text 11"/>
          <p:cNvSpPr/>
          <p:nvPr/>
        </p:nvSpPr>
        <p:spPr>
          <a:xfrm>
            <a:off x="3361436" y="25283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2895092" y="29672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摘要先行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2895092" y="324154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detail: summary，再按页浏览证据</a:t>
            </a:r>
            <a:endParaRPr lang="en-US" sz="850" dirty="0"/>
          </a:p>
        </p:txBody>
      </p:sp>
      <p:sp>
        <p:nvSpPr>
          <p:cNvPr id="23" name="Text 14"/>
          <p:cNvSpPr/>
          <p:nvPr/>
        </p:nvSpPr>
        <p:spPr>
          <a:xfrm>
            <a:off x="4284980" y="293065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C3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4449572" y="2400300"/>
            <a:ext cx="15361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25" name="Shape 16"/>
          <p:cNvSpPr/>
          <p:nvPr/>
        </p:nvSpPr>
        <p:spPr>
          <a:xfrm>
            <a:off x="5043932" y="2528316"/>
            <a:ext cx="347472" cy="347472"/>
          </a:xfrm>
          <a:prstGeom prst="ellipse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" name="Text 17"/>
          <p:cNvSpPr/>
          <p:nvPr/>
        </p:nvSpPr>
        <p:spPr>
          <a:xfrm>
            <a:off x="5043932" y="25283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4577588" y="29672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聚焦钻取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4577588" y="324154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xrefs · 调用链 · 伪代码 analyze_function</a:t>
            </a:r>
            <a:endParaRPr lang="en-US" sz="850" dirty="0"/>
          </a:p>
        </p:txBody>
      </p:sp>
      <p:sp>
        <p:nvSpPr>
          <p:cNvPr id="32" name="Text 20"/>
          <p:cNvSpPr/>
          <p:nvPr/>
        </p:nvSpPr>
        <p:spPr>
          <a:xfrm>
            <a:off x="5967476" y="293065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C3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Shape 21"/>
          <p:cNvSpPr/>
          <p:nvPr/>
        </p:nvSpPr>
        <p:spPr>
          <a:xfrm>
            <a:off x="6132068" y="2400300"/>
            <a:ext cx="15361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34" name="Shape 22"/>
          <p:cNvSpPr/>
          <p:nvPr/>
        </p:nvSpPr>
        <p:spPr>
          <a:xfrm>
            <a:off x="6726428" y="2528316"/>
            <a:ext cx="347472" cy="347472"/>
          </a:xfrm>
          <a:prstGeom prst="ellipse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35" name="Text 23"/>
          <p:cNvSpPr/>
          <p:nvPr/>
        </p:nvSpPr>
        <p:spPr>
          <a:xfrm>
            <a:off x="6726428" y="25283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24"/>
          <p:cNvSpPr/>
          <p:nvPr/>
        </p:nvSpPr>
        <p:spPr>
          <a:xfrm>
            <a:off x="6260084" y="29672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证据归因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6260084" y="324154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Evidence ID 归档，观察/推断/未知分离</a:t>
            </a:r>
            <a:endParaRPr lang="en-US" sz="850" dirty="0"/>
          </a:p>
        </p:txBody>
      </p:sp>
      <p:sp>
        <p:nvSpPr>
          <p:cNvPr id="38" name="Text 26"/>
          <p:cNvSpPr/>
          <p:nvPr/>
        </p:nvSpPr>
        <p:spPr>
          <a:xfrm>
            <a:off x="7649972" y="293065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C3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›</a:t>
            </a:r>
            <a:endParaRPr lang="en-US" sz="1400" dirty="0"/>
          </a:p>
        </p:txBody>
      </p:sp>
      <p:sp>
        <p:nvSpPr>
          <p:cNvPr id="39" name="Shape 27"/>
          <p:cNvSpPr/>
          <p:nvPr/>
        </p:nvSpPr>
        <p:spPr>
          <a:xfrm>
            <a:off x="7814564" y="2400300"/>
            <a:ext cx="15361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40" name="Shape 28"/>
          <p:cNvSpPr/>
          <p:nvPr/>
        </p:nvSpPr>
        <p:spPr>
          <a:xfrm>
            <a:off x="8408924" y="2528316"/>
            <a:ext cx="347472" cy="347472"/>
          </a:xfrm>
          <a:prstGeom prst="ellipse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41" name="Text 29"/>
          <p:cNvSpPr/>
          <p:nvPr/>
        </p:nvSpPr>
        <p:spPr>
          <a:xfrm>
            <a:off x="8408924" y="25283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30"/>
          <p:cNvSpPr/>
          <p:nvPr/>
        </p:nvSpPr>
        <p:spPr>
          <a:xfrm>
            <a:off x="7942580" y="29672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沉淀复刻</a:t>
            </a:r>
            <a:endParaRPr lang="en-US" sz="1200" dirty="0"/>
          </a:p>
        </p:txBody>
      </p:sp>
      <p:sp>
        <p:nvSpPr>
          <p:cNvPr id="43" name="Text 31"/>
          <p:cNvSpPr/>
          <p:nvPr/>
        </p:nvSpPr>
        <p:spPr>
          <a:xfrm>
            <a:off x="7942580" y="324154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trace_application_feature → 同款实现 + 测试</a:t>
            </a:r>
            <a:endParaRPr lang="en-US" sz="850" dirty="0"/>
          </a:p>
        </p:txBody>
      </p:sp>
      <p:sp>
        <p:nvSpPr>
          <p:cNvPr id="44" name="文本框 43"/>
          <p:cNvSpPr txBox="1"/>
          <p:nvPr/>
        </p:nvSpPr>
        <p:spPr>
          <a:xfrm>
            <a:off x="381000" y="2038350"/>
            <a:ext cx="8063865" cy="337185"/>
          </a:xfrm>
          <a:prstGeom prst="rect">
            <a:avLst/>
          </a:prstGeom>
        </p:spPr>
        <p:txBody>
          <a:bodyPr wrap="square" anchor="t">
            <a:spAutoFit/>
          </a:bodyPr>
          <a:p>
            <a:pPr algn="l"/>
            <a:r>
              <a:rPr lang="en-US" sz="16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技术解密：一次逆向是怎么跑起来的</a:t>
            </a:r>
            <a:endParaRPr lang="en-US" altLang="en-US" sz="16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5" name="Text 2"/>
          <p:cNvSpPr/>
          <p:nvPr/>
        </p:nvSpPr>
        <p:spPr>
          <a:xfrm>
            <a:off x="425450" y="3756025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Adobe 全家桶被 AI 反向编译：ArtCraft 事件</a:t>
            </a:r>
            <a:endParaRPr lang="en-US" sz="16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548640" y="4170680"/>
            <a:ext cx="50749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48" name="Shape 4"/>
          <p:cNvSpPr/>
          <p:nvPr/>
        </p:nvSpPr>
        <p:spPr>
          <a:xfrm>
            <a:off x="548640" y="4170680"/>
            <a:ext cx="64008" cy="1463040"/>
          </a:xfrm>
          <a:prstGeom prst="rect">
            <a:avLst/>
          </a:prstGeom>
          <a:solidFill>
            <a:srgbClr val="FB7185"/>
          </a:solidFill>
        </p:spPr>
        <p:txBody>
          <a:bodyPr/>
          <a:p/>
        </p:txBody>
      </p:sp>
      <p:sp>
        <p:nvSpPr>
          <p:cNvPr id="49" name="Text 5"/>
          <p:cNvSpPr/>
          <p:nvPr/>
        </p:nvSpPr>
        <p:spPr>
          <a:xfrm>
            <a:off x="731520" y="42621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Brandon Thomas</a:t>
            </a:r>
            <a:r>
              <a:rPr lang="en-US" sz="10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 ·  15 年经验开发者 · Atlanta</a:t>
            </a:r>
            <a:endParaRPr lang="en-US" sz="1300" dirty="0"/>
          </a:p>
        </p:txBody>
      </p:sp>
      <p:sp>
        <p:nvSpPr>
          <p:cNvPr id="50" name="Text 6"/>
          <p:cNvSpPr/>
          <p:nvPr/>
        </p:nvSpPr>
        <p:spPr>
          <a:xfrm>
            <a:off x="731520" y="453644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 Claude Opus 5.5 + Rust 对 Adobe 软件做</a:t>
            </a:r>
            <a:r>
              <a:rPr lang="en-US" sz="1050" b="1" dirty="0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「净室重写」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：不照抄代码与素材，只按功能重写。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起因：被 Adobe 订阅/违约金机制激怒 → 宣称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B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「软件这门生意结束了」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；MIT / Apache 开源、免费、另有 WebAssembly 版。</a:t>
            </a:r>
            <a:endParaRPr lang="en-US" sz="1050" dirty="0"/>
          </a:p>
        </p:txBody>
      </p:sp>
      <p:sp>
        <p:nvSpPr>
          <p:cNvPr id="51" name="Shape 7"/>
          <p:cNvSpPr/>
          <p:nvPr/>
        </p:nvSpPr>
        <p:spPr>
          <a:xfrm>
            <a:off x="5806440" y="4170680"/>
            <a:ext cx="28803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52" name="Shape 8"/>
          <p:cNvSpPr/>
          <p:nvPr/>
        </p:nvSpPr>
        <p:spPr>
          <a:xfrm>
            <a:off x="5806440" y="4170680"/>
            <a:ext cx="64008" cy="146304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53" name="Text 9"/>
          <p:cNvSpPr/>
          <p:nvPr/>
        </p:nvSpPr>
        <p:spPr>
          <a:xfrm>
            <a:off x="5989320" y="42804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54K+</a:t>
            </a:r>
            <a:endParaRPr lang="en-US" sz="1400" dirty="0"/>
          </a:p>
        </p:txBody>
      </p:sp>
      <p:sp>
        <p:nvSpPr>
          <p:cNvPr id="54" name="Text 10"/>
          <p:cNvSpPr/>
          <p:nvPr/>
        </p:nvSpPr>
        <p:spPr>
          <a:xfrm>
            <a:off x="6949440" y="429869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PhotoCraft 单仓</a:t>
            </a:r>
            <a:endParaRPr lang="en-US" sz="900" dirty="0"/>
          </a:p>
        </p:txBody>
      </p:sp>
      <p:sp>
        <p:nvSpPr>
          <p:cNvPr id="55" name="Text 11"/>
          <p:cNvSpPr/>
          <p:nvPr/>
        </p:nvSpPr>
        <p:spPr>
          <a:xfrm>
            <a:off x="5989320" y="46095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82K+</a:t>
            </a:r>
            <a:endParaRPr lang="en-US" sz="1400" dirty="0"/>
          </a:p>
        </p:txBody>
      </p:sp>
      <p:sp>
        <p:nvSpPr>
          <p:cNvPr id="56" name="Text 12"/>
          <p:cNvSpPr/>
          <p:nvPr/>
        </p:nvSpPr>
        <p:spPr>
          <a:xfrm>
            <a:off x="6949440" y="462788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ArtCraft 组织累计</a:t>
            </a:r>
            <a:endParaRPr lang="en-US" sz="900" dirty="0"/>
          </a:p>
        </p:txBody>
      </p:sp>
      <p:sp>
        <p:nvSpPr>
          <p:cNvPr id="57" name="Text 13"/>
          <p:cNvSpPr/>
          <p:nvPr/>
        </p:nvSpPr>
        <p:spPr>
          <a:xfrm>
            <a:off x="5989320" y="49387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7→12</a:t>
            </a:r>
            <a:endParaRPr lang="en-US" sz="1400" dirty="0"/>
          </a:p>
        </p:txBody>
      </p:sp>
      <p:sp>
        <p:nvSpPr>
          <p:cNvPr id="58" name="Text 14"/>
          <p:cNvSpPr/>
          <p:nvPr/>
        </p:nvSpPr>
        <p:spPr>
          <a:xfrm>
            <a:off x="6949440" y="495706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款 Adobe 替代品（持续扩充）</a:t>
            </a:r>
            <a:endParaRPr lang="en-US" sz="900" dirty="0"/>
          </a:p>
        </p:txBody>
      </p:sp>
      <p:sp>
        <p:nvSpPr>
          <p:cNvPr id="59" name="Text 15"/>
          <p:cNvSpPr/>
          <p:nvPr/>
        </p:nvSpPr>
        <p:spPr>
          <a:xfrm>
            <a:off x="5989320" y="526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400" dirty="0"/>
          </a:p>
        </p:txBody>
      </p:sp>
      <p:sp>
        <p:nvSpPr>
          <p:cNvPr id="60" name="Text 16"/>
          <p:cNvSpPr/>
          <p:nvPr/>
        </p:nvSpPr>
        <p:spPr>
          <a:xfrm>
            <a:off x="6949440" y="528624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订阅费 · 0 违约金</a:t>
            </a:r>
            <a:endParaRPr lang="en-US" sz="900" dirty="0"/>
          </a:p>
        </p:txBody>
      </p:sp>
      <p:sp>
        <p:nvSpPr>
          <p:cNvPr id="61" name="Text 17"/>
          <p:cNvSpPr/>
          <p:nvPr/>
        </p:nvSpPr>
        <p:spPr>
          <a:xfrm>
            <a:off x="548640" y="5666105"/>
            <a:ext cx="2783205" cy="403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全家桶对照（初始 7 款）</a:t>
            </a:r>
            <a:endParaRPr lang="en-US" sz="1300" dirty="0"/>
          </a:p>
        </p:txBody>
      </p:sp>
      <p:sp>
        <p:nvSpPr>
          <p:cNvPr id="62" name="Shape 18"/>
          <p:cNvSpPr/>
          <p:nvPr/>
        </p:nvSpPr>
        <p:spPr>
          <a:xfrm>
            <a:off x="548640" y="5999480"/>
            <a:ext cx="1080000" cy="403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63" name="Text 19"/>
          <p:cNvSpPr/>
          <p:nvPr/>
        </p:nvSpPr>
        <p:spPr>
          <a:xfrm>
            <a:off x="645025" y="5999480"/>
            <a:ext cx="1079500" cy="4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PhotoCraft</a:t>
            </a:r>
            <a:endParaRPr lang="en-US" sz="9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· Photoshop ★54K</a:t>
            </a:r>
            <a:endParaRPr lang="en-US" sz="950" dirty="0"/>
          </a:p>
        </p:txBody>
      </p:sp>
      <p:sp>
        <p:nvSpPr>
          <p:cNvPr id="64" name="Shape 20"/>
          <p:cNvSpPr/>
          <p:nvPr/>
        </p:nvSpPr>
        <p:spPr>
          <a:xfrm>
            <a:off x="2041390" y="5999480"/>
            <a:ext cx="1079500" cy="403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65" name="Text 21"/>
          <p:cNvSpPr/>
          <p:nvPr/>
        </p:nvSpPr>
        <p:spPr>
          <a:xfrm>
            <a:off x="2137275" y="5999480"/>
            <a:ext cx="1079500" cy="4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VectorCraft </a:t>
            </a:r>
            <a:endParaRPr lang="en-US" sz="95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· Illustrator</a:t>
            </a:r>
            <a:endParaRPr lang="en-US" sz="950" dirty="0"/>
          </a:p>
        </p:txBody>
      </p:sp>
      <p:sp>
        <p:nvSpPr>
          <p:cNvPr id="66" name="Shape 22"/>
          <p:cNvSpPr/>
          <p:nvPr/>
        </p:nvSpPr>
        <p:spPr>
          <a:xfrm>
            <a:off x="3533640" y="5999480"/>
            <a:ext cx="1079500" cy="403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67" name="Text 23"/>
          <p:cNvSpPr/>
          <p:nvPr/>
        </p:nvSpPr>
        <p:spPr>
          <a:xfrm>
            <a:off x="3629525" y="5999480"/>
            <a:ext cx="1079500" cy="4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FilmCraft </a:t>
            </a:r>
            <a:endParaRPr lang="en-US" sz="95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· Premiere</a:t>
            </a:r>
            <a:endParaRPr lang="en-US" sz="950" dirty="0"/>
          </a:p>
        </p:txBody>
      </p:sp>
      <p:sp>
        <p:nvSpPr>
          <p:cNvPr id="68" name="Shape 24"/>
          <p:cNvSpPr/>
          <p:nvPr/>
        </p:nvSpPr>
        <p:spPr>
          <a:xfrm>
            <a:off x="5025890" y="5999480"/>
            <a:ext cx="1079500" cy="403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69" name="Text 25"/>
          <p:cNvSpPr/>
          <p:nvPr/>
        </p:nvSpPr>
        <p:spPr>
          <a:xfrm>
            <a:off x="5121775" y="5999480"/>
            <a:ext cx="1079500" cy="4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LightCraft</a:t>
            </a:r>
            <a:endParaRPr lang="en-US" sz="95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· Lightroom</a:t>
            </a:r>
            <a:endParaRPr lang="en-US" sz="950" dirty="0"/>
          </a:p>
        </p:txBody>
      </p:sp>
      <p:sp>
        <p:nvSpPr>
          <p:cNvPr id="70" name="Shape 26"/>
          <p:cNvSpPr/>
          <p:nvPr/>
        </p:nvSpPr>
        <p:spPr>
          <a:xfrm>
            <a:off x="6518140" y="5999480"/>
            <a:ext cx="1079500" cy="403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71" name="Text 27"/>
          <p:cNvSpPr/>
          <p:nvPr/>
        </p:nvSpPr>
        <p:spPr>
          <a:xfrm>
            <a:off x="6614025" y="5999480"/>
            <a:ext cx="1079500" cy="4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EffectCraft </a:t>
            </a:r>
            <a:endParaRPr lang="en-US" sz="9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· After Effects</a:t>
            </a:r>
            <a:endParaRPr lang="en-US" sz="950" dirty="0"/>
          </a:p>
        </p:txBody>
      </p:sp>
      <p:sp>
        <p:nvSpPr>
          <p:cNvPr id="72" name="Shape 28"/>
          <p:cNvSpPr/>
          <p:nvPr/>
        </p:nvSpPr>
        <p:spPr>
          <a:xfrm>
            <a:off x="8010390" y="5999480"/>
            <a:ext cx="1079500" cy="403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73" name="Text 29"/>
          <p:cNvSpPr/>
          <p:nvPr/>
        </p:nvSpPr>
        <p:spPr>
          <a:xfrm>
            <a:off x="8106410" y="5999480"/>
            <a:ext cx="1363980" cy="403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DesignCraft</a:t>
            </a:r>
            <a:endParaRPr lang="en-US" sz="95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· InDesign</a:t>
            </a:r>
            <a:endParaRPr lang="en-US" sz="950" dirty="0"/>
          </a:p>
        </p:txBody>
      </p:sp>
      <p:sp>
        <p:nvSpPr>
          <p:cNvPr id="74" name="Shape 30"/>
          <p:cNvSpPr/>
          <p:nvPr/>
        </p:nvSpPr>
        <p:spPr>
          <a:xfrm>
            <a:off x="9502640" y="5999480"/>
            <a:ext cx="1079500" cy="403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  <p:txBody>
          <a:bodyPr/>
          <a:p/>
        </p:txBody>
      </p:sp>
      <p:sp>
        <p:nvSpPr>
          <p:cNvPr id="75" name="Text 31"/>
          <p:cNvSpPr/>
          <p:nvPr/>
        </p:nvSpPr>
        <p:spPr>
          <a:xfrm>
            <a:off x="9598525" y="5999480"/>
            <a:ext cx="1079500" cy="4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PrintCraf </a:t>
            </a:r>
            <a:endParaRPr lang="en-US" sz="95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· Acrobat Pro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待决策项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6120" y="742315"/>
            <a:ext cx="8140700" cy="444500"/>
          </a:xfrm>
          <a:prstGeom prst="rect">
            <a:avLst/>
          </a:prstGeom>
        </p:spPr>
        <p:txBody>
          <a:bodyPr/>
          <a:p>
            <a:pPr algn="l"/>
            <a:r>
              <a:rPr lang="zh-CN" altLang="en-US" dirty="0">
                <a:solidFill>
                  <a:schemeClr val="accent5"/>
                </a:solidFill>
                <a:latin typeface="思源黑体 CN Medium" panose="020B0600000000000000" pitchFamily="34" charset="-128"/>
                <a:ea typeface="思源黑体 CN Medium" panose="020B0600000000000000" pitchFamily="34" charset="-128"/>
              </a:rPr>
              <a:t>是否需要继续外采通讯软件？以及是否使用自研方案？</a:t>
            </a:r>
            <a:endParaRPr lang="zh-CN" altLang="en-US" dirty="0">
              <a:solidFill>
                <a:schemeClr val="accent5"/>
              </a:solidFill>
              <a:latin typeface="思源黑体 CN Medium" panose="020B0600000000000000" pitchFamily="34" charset="-128"/>
              <a:ea typeface="思源黑体 CN Medium" panose="020B0600000000000000" pitchFamily="34" charset="-128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43535" y="1054100"/>
          <a:ext cx="11543030" cy="483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465"/>
                <a:gridCol w="6400800"/>
                <a:gridCol w="3961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外采</a:t>
                      </a:r>
                      <a:r>
                        <a:rPr lang="zh-CN" altLang="en-US"/>
                        <a:t>方案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自研</a:t>
                      </a:r>
                      <a:r>
                        <a:rPr lang="zh-CN" altLang="en-US"/>
                        <a:t>方案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软件</a:t>
                      </a:r>
                      <a:r>
                        <a:rPr lang="zh-CN" altLang="en-US"/>
                        <a:t>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ibodor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NewBodor</a:t>
                      </a: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供应商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金蝶下属企业云之家（</a:t>
                      </a:r>
                      <a:r>
                        <a:rPr lang="en-US" altLang="zh-CN" sz="1600"/>
                        <a:t>2025</a:t>
                      </a:r>
                      <a:r>
                        <a:rPr lang="zh-CN" altLang="en-US" sz="1600"/>
                        <a:t>年</a:t>
                      </a:r>
                      <a:r>
                        <a:rPr lang="en-US" altLang="zh-CN" sz="1600"/>
                        <a:t>9</a:t>
                      </a:r>
                      <a:r>
                        <a:rPr lang="zh-CN" altLang="en-US" sz="1600"/>
                        <a:t>月收购）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使用</a:t>
                      </a:r>
                      <a:r>
                        <a:rPr lang="en-US" altLang="zh-CN" sz="1600"/>
                        <a:t>AI+REA</a:t>
                      </a:r>
                      <a:r>
                        <a:rPr lang="zh-CN" altLang="en-US" sz="1600"/>
                        <a:t>技术自研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计费</a:t>
                      </a:r>
                      <a:r>
                        <a:rPr lang="zh-CN" altLang="en-US"/>
                        <a:t>方式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当前公司内部员工使用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ibodor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进行通信，而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ibodor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供应商云之家计费方式为按照普通员工计费方式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近期需要</a:t>
                      </a:r>
                      <a:r>
                        <a:rPr lang="en-US" altLang="zh-CN" sz="1600"/>
                        <a:t>2</a:t>
                      </a:r>
                      <a:r>
                        <a:rPr lang="zh-CN" altLang="en-US" sz="1600"/>
                        <a:t>名员工开发，后期</a:t>
                      </a:r>
                      <a:r>
                        <a:rPr lang="en-US" altLang="zh-CN" sz="1600"/>
                        <a:t>0.5</a:t>
                      </a:r>
                      <a:r>
                        <a:rPr lang="zh-CN" altLang="en-US" sz="1600"/>
                        <a:t>个员工持续维护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劣势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 algn="l" defTabSz="457200">
                        <a:buFont typeface="Wingdings" panose="05000000000000000000" charset="0"/>
                        <a:buChar char="Ø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极大地落后于时代发展脚步：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ibodor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与外部通讯软件的功能差距较大，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不具备飞书多维表格（含低代码平台）、在线文档、文档自动通知相关人员、实时翻译、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LLM wiki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等强大办公功能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。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285750" indent="-285750" algn="l" defTabSz="457200">
                        <a:buFont typeface="Wingdings" panose="05000000000000000000" charset="0"/>
                        <a:buChar char="Ø"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BUG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频发：登录功能经常出现扫码无法弹出，登录不上（无网络问题等其他情况）等低级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BUG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，经反复向运维反馈，无法解决。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285750" indent="-285750">
                        <a:buFont typeface="Wingdings" panose="05000000000000000000" charset="0"/>
                        <a:buChar char="Ø"/>
                      </a:pPr>
                      <a:r>
                        <a:rPr lang="zh-CN" altLang="en-US" sz="1600">
                          <a:sym typeface="+mn-ea"/>
                        </a:rPr>
                        <a:t>作为通讯软件不具备优势，市占率低于</a:t>
                      </a:r>
                      <a:r>
                        <a:rPr lang="en-US" altLang="zh-CN" sz="1600">
                          <a:sym typeface="+mn-ea"/>
                        </a:rPr>
                        <a:t>8%</a:t>
                      </a:r>
                      <a:r>
                        <a:rPr lang="zh-CN" altLang="en-US" sz="1600">
                          <a:sym typeface="+mn-ea"/>
                        </a:rPr>
                        <a:t>（与</a:t>
                      </a:r>
                      <a:r>
                        <a:rPr lang="en-US" altLang="zh-CN" sz="1600">
                          <a:sym typeface="+mn-ea"/>
                        </a:rPr>
                        <a:t> Teams</a:t>
                      </a:r>
                      <a:r>
                        <a:rPr lang="zh-CN" altLang="en-US" sz="1600">
                          <a:sym typeface="+mn-ea"/>
                        </a:rPr>
                        <a:t>、</a:t>
                      </a:r>
                      <a:r>
                        <a:rPr lang="en-US" altLang="zh-CN" sz="1600">
                          <a:sym typeface="+mn-ea"/>
                        </a:rPr>
                        <a:t>WPS 365</a:t>
                      </a:r>
                      <a:r>
                        <a:rPr lang="zh-CN" altLang="en-US" sz="1600">
                          <a:sym typeface="+mn-ea"/>
                        </a:rPr>
                        <a:t>、</a:t>
                      </a:r>
                      <a:r>
                        <a:rPr lang="en-US" altLang="zh-CN" sz="1600">
                          <a:sym typeface="+mn-ea"/>
                        </a:rPr>
                        <a:t>Zoom</a:t>
                      </a:r>
                      <a:r>
                        <a:rPr lang="zh-CN" altLang="en-US" sz="1600">
                          <a:sym typeface="+mn-ea"/>
                        </a:rPr>
                        <a:t>、</a:t>
                      </a:r>
                      <a:r>
                        <a:rPr lang="en-US" altLang="zh-CN" sz="1600">
                          <a:sym typeface="+mn-ea"/>
                        </a:rPr>
                        <a:t>Slack</a:t>
                      </a:r>
                      <a:r>
                        <a:rPr lang="zh-CN" altLang="en-US" sz="1600">
                          <a:sym typeface="+mn-ea"/>
                        </a:rPr>
                        <a:t>、石墨、蓝凌、泛微、致远、用友</a:t>
                      </a:r>
                      <a:r>
                        <a:rPr lang="zh-CN" altLang="en-US" sz="1600">
                          <a:sym typeface="+mn-ea"/>
                        </a:rPr>
                        <a:t>等公司共分）。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Wingdings" panose="05000000000000000000" charset="0"/>
                        <a:buChar char="Ø"/>
                      </a:pPr>
                      <a:r>
                        <a:rPr lang="zh-CN" altLang="en-US" sz="1600"/>
                        <a:t>需要开发及持续</a:t>
                      </a:r>
                      <a:r>
                        <a:rPr lang="zh-CN" altLang="en-US" sz="1600"/>
                        <a:t>维护</a:t>
                      </a:r>
                      <a:endParaRPr lang="zh-CN" altLang="en-US" sz="1600"/>
                    </a:p>
                    <a:p>
                      <a:pPr marL="285750" indent="-285750">
                        <a:buFont typeface="Wingdings" panose="05000000000000000000" charset="0"/>
                        <a:buChar char="Ø"/>
                      </a:pPr>
                      <a:r>
                        <a:rPr lang="zh-CN" altLang="en-US" sz="1600"/>
                        <a:t>需要员工测试并适应新</a:t>
                      </a:r>
                      <a:r>
                        <a:rPr lang="zh-CN" altLang="en-US" sz="1600"/>
                        <a:t>软件</a:t>
                      </a:r>
                      <a:endParaRPr lang="zh-CN" altLang="en-US" sz="1600"/>
                    </a:p>
                    <a:p>
                      <a:pPr marL="285750" indent="-285750">
                        <a:buFont typeface="Wingdings" panose="05000000000000000000" charset="0"/>
                        <a:buChar char="Ø"/>
                      </a:pP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Wingdings" panose="05000000000000000000" charset="0"/>
                        <a:buChar char="Ø"/>
                      </a:pPr>
                      <a:r>
                        <a:rPr lang="zh-CN" altLang="en-US" sz="1600" kern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云之家市占率低于</a:t>
                      </a:r>
                      <a:r>
                        <a:rPr lang="en-US" altLang="zh-CN" sz="1600" kern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8%</a:t>
                      </a:r>
                      <a:r>
                        <a:rPr lang="zh-CN" altLang="en-US" sz="1600" kern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，只能走差异化路线，深度绑定</a:t>
                      </a:r>
                      <a:r>
                        <a:rPr lang="zh-CN" altLang="en-US" sz="1600" kern="0">
                          <a:solidFill>
                            <a:srgbClr val="2440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金蝶</a:t>
                      </a:r>
                      <a:r>
                        <a:rPr lang="en-US" altLang="zh-CN" sz="1600" kern="0">
                          <a:solidFill>
                            <a:srgbClr val="2440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ERP</a:t>
                      </a:r>
                      <a:r>
                        <a:rPr lang="zh-CN" altLang="en-US" sz="1600" kern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，主打“业务协同”，在制造、医药、房地产等对数据安全和系统集成要求高的中大型企业里很稳，</a:t>
                      </a:r>
                      <a:r>
                        <a:rPr lang="zh-CN" altLang="en-US" sz="1600" b="1" kern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但我司并未采购</a:t>
                      </a:r>
                      <a:r>
                        <a:rPr lang="en-US" altLang="zh-CN" sz="1600" b="1" kern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ERP</a:t>
                      </a:r>
                      <a:endParaRPr lang="en-US" altLang="zh-CN" sz="1600" b="1" kern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marL="285750" indent="-285750">
                        <a:buFont typeface="Wingdings" panose="05000000000000000000" charset="0"/>
                        <a:buChar char="Ø"/>
                      </a:pPr>
                      <a:r>
                        <a:rPr lang="zh-CN" altLang="en-US" sz="1600" b="1" kern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其他供应商数</a:t>
                      </a:r>
                      <a:r>
                        <a:rPr lang="zh-CN" altLang="en-US" sz="1600" b="1" kern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字员工仍需单独计费</a:t>
                      </a:r>
                      <a:r>
                        <a:rPr lang="zh-CN" altLang="en-US" sz="1600" b="1" kern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，而且经</a:t>
                      </a:r>
                      <a:r>
                        <a:rPr lang="zh-CN" altLang="en-US" sz="1600" b="1" kern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实测，每人每月</a:t>
                      </a:r>
                      <a:r>
                        <a:rPr lang="en-US" altLang="zh-CN" sz="1600" b="1" kern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500</a:t>
                      </a:r>
                      <a:r>
                        <a:rPr lang="zh-CN" altLang="en-US" sz="1600" b="1" kern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元版本套餐内</a:t>
                      </a:r>
                      <a:r>
                        <a:rPr lang="en-US" altLang="zh-CN" sz="1600" b="1" kern="0">
                          <a:solidFill>
                            <a:schemeClr val="accent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AI</a:t>
                      </a:r>
                      <a:r>
                        <a:rPr lang="zh-CN" altLang="en-US" sz="1600" b="1" kern="0">
                          <a:solidFill>
                            <a:schemeClr val="accent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点数大量使用时仅半天就达到限额</a:t>
                      </a:r>
                      <a:r>
                        <a:rPr lang="zh-CN" altLang="en-US" sz="1600" b="1" kern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，仍无法满足企业正常使用需求</a:t>
                      </a:r>
                      <a:endParaRPr lang="zh-CN" altLang="en-US" sz="1600" b="1" kern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Wingdings" panose="05000000000000000000" charset="0"/>
                        <a:buChar char="Ø"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节约外采费用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；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285750" indent="-285750">
                        <a:buFont typeface="Wingdings" panose="05000000000000000000" charset="0"/>
                        <a:buChar char="Ø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全线自主可控；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285750" indent="-285750">
                        <a:buFont typeface="Wingdings" panose="05000000000000000000" charset="0"/>
                        <a:buChar char="Ø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可自主加入数字员工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；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285750" indent="-285750">
                        <a:buFont typeface="Wingdings" panose="05000000000000000000" charset="0"/>
                        <a:buChar char="Ø"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可作为可控便捷入口加入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CSS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MOM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等自研信息化系统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API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，根据上下文对话，自然语言发起工单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</p:tagLst>
</file>

<file path=ppt/tags/tag2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TEMPLATE_NEED_RESERVE" val="1"/>
  <p:tag name="KSO_WM_UNIT_ISCONTENTSTITLE" val="1"/>
</p:tagLst>
</file>

<file path=ppt/tags/tag21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UNIT_ISCONTENTSTITL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边黑色木板1.0">
  <a:themeElements>
    <a:clrScheme name="邦德深色色板">
      <a:dk1>
        <a:srgbClr val="000000"/>
      </a:dk1>
      <a:lt1>
        <a:srgbClr val="FFFFFF"/>
      </a:lt1>
      <a:dk2>
        <a:srgbClr val="828898"/>
      </a:dk2>
      <a:lt2>
        <a:srgbClr val="FFFFFF"/>
      </a:lt2>
      <a:accent1>
        <a:srgbClr val="FF4610"/>
      </a:accent1>
      <a:accent2>
        <a:srgbClr val="FFEE28"/>
      </a:accent2>
      <a:accent3>
        <a:srgbClr val="28FFC1"/>
      </a:accent3>
      <a:accent4>
        <a:srgbClr val="5900FF"/>
      </a:accent4>
      <a:accent5>
        <a:srgbClr val="FF0034"/>
      </a:accent5>
      <a:accent6>
        <a:srgbClr val="10ADFF"/>
      </a:accent6>
      <a:hlink>
        <a:srgbClr val="00F910"/>
      </a:hlink>
      <a:folHlink>
        <a:srgbClr val="00C0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思源黑体 CN Medium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思源黑体 CN Medium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kumimoji="1"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/>
      <a:bodyPr/>
      <a:lstStyle>
        <a:defPPr algn="l">
          <a:defRPr sz="5400" dirty="0">
            <a:latin typeface="思源黑体 CN Medium" panose="020B0600000000000000" pitchFamily="34" charset="-128"/>
            <a:ea typeface="思源黑体 CN Medium" panose="020B0600000000000000" pitchFamily="34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5572</Words>
  <Application>WPS 演示</Application>
  <PresentationFormat>宽屏</PresentationFormat>
  <Paragraphs>593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4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思源黑体 CN Medium</vt:lpstr>
      <vt:lpstr>黑体</vt:lpstr>
      <vt:lpstr>-apple-system</vt:lpstr>
      <vt:lpstr>Segoe Print</vt:lpstr>
      <vt:lpstr>Arial</vt:lpstr>
      <vt:lpstr>思源黑体 CN Medium</vt:lpstr>
      <vt:lpstr>思源黑体 CN Medium</vt:lpstr>
      <vt:lpstr>PingFang SC</vt:lpstr>
      <vt:lpstr>Segoe UI</vt:lpstr>
      <vt:lpstr>微软雅黑</vt:lpstr>
      <vt:lpstr>Consolas</vt:lpstr>
      <vt:lpstr>Consolas</vt:lpstr>
      <vt:lpstr>Consolas</vt:lpstr>
      <vt:lpstr>Source Han Sans CN</vt:lpstr>
      <vt:lpstr>Montserrat</vt:lpstr>
      <vt:lpstr>Georgia</vt:lpstr>
      <vt:lpstr>思源黑体 CN Light</vt:lpstr>
      <vt:lpstr>Noto Sans SC</vt:lpstr>
      <vt:lpstr>Office Theme</vt:lpstr>
      <vt:lpstr>L边黑色木板1.0</vt:lpstr>
      <vt:lpstr>PowerPoint 演示文稿</vt:lpstr>
      <vt:lpstr>目录</vt:lpstr>
      <vt:lpstr>PowerPoint 演示文稿</vt:lpstr>
      <vt:lpstr>PowerPoint 演示文稿</vt:lpstr>
      <vt:lpstr>PowerPoint 演示文稿</vt:lpstr>
      <vt:lpstr>support-copilot 技能介绍   智能识别、自动化执行、安全分享和精准控制于一体的智能办公助手</vt:lpstr>
      <vt:lpstr>support-copilot 技能介绍   </vt:lpstr>
      <vt:lpstr>support-copilot 技能介绍</vt:lpstr>
      <vt:lpstr>support-copilot 技能介绍</vt:lpstr>
      <vt:lpstr>自研公司内部通讯软件（NewBodor）进展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bd-5292</cp:lastModifiedBy>
  <cp:revision>167</cp:revision>
  <dcterms:created xsi:type="dcterms:W3CDTF">2019-06-19T02:08:00Z</dcterms:created>
  <dcterms:modified xsi:type="dcterms:W3CDTF">2026-10-26T07:19:33Z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KSOProductBuildVer">
    <vt:lpwstr>2052-12.1.0.24034</vt:lpwstr>
  </op:property>
  <op:property fmtid="{D5CDD505-2E9C-101B-9397-08002B2CF9AE}" pid="3" name="ICV">
    <vt:lpwstr>150416C7EF344559B0E06BA15E4EC9F9_11</vt:lpwstr>
  </op:property>
  <op:property fmtid="{D5CDD505-2E9C-101B-9397-08002B2CF9AE}" pid="4" name="_IPGFID">
    <vt:lpwstr>[DocID]=5CC8EA3D-F040-4B5D-BC2D-417CC675790D</vt:lpwstr>
  </op:property>
  <op:property fmtid="{D5CDD505-2E9C-101B-9397-08002B2CF9AE}" pid="5" name="_IPGFLOW_P-C5B9_E-1_FP-1_SP-1_CV-3647EAB1_CN-A89484B7">
    <vt:lpwstr>S2piJDCgo2t+OL7lWZKirSqA9GwEQnnMfdC/VbyHSOQWB/oyIKXyyFhli6wQOiL3LaF85KFUIuVJnAO3+iu3S73ZXqfh94Wu2BzAYG+Ai/vw25BaeI1Vy+LrXeD0zHt55vtLkdjMXp3dWkTIj3UKnSHHFoMKCHvnmQmFHH+xyp6XVus3O5pMCGqTFo5QmkVxvnOlEaOiAJkkCLQ4cQrUwmMeNj6kpnHJ91uUfT1x66jYD+V5rJg4XggfZkA9rXj</vt:lpwstr>
  </op:property>
  <op:property fmtid="{D5CDD505-2E9C-101B-9397-08002B2CF9AE}" pid="6" name="_IPGFLOW_P-C5B9_E-1_FP-1_SP-2_CV-BEA04E9C_CN-E7A12CAB">
    <vt:lpwstr>5BP2FcK5WHp5wqIVSQR9DkgFHIo2IedOVEPaJg/hmRlSZjenXv441o43MUSIJi/hFlqrECydW8qbu83DKhzskJzffENQVI/v+IgsEKxrICTdgv2yDa2WQ3sJGf9msQuJr</vt:lpwstr>
  </op:property>
  <op:property fmtid="{D5CDD505-2E9C-101B-9397-08002B2CF9AE}" pid="7" name="_IPGFLOW_P-C5B9_E-0_FP-1_CV-1748F583_CN-E3C1C437">
    <vt:lpwstr>DPSPMK|3|384|2|0</vt:lpwstr>
  </op:property>
  <op:property fmtid="{D5CDD505-2E9C-101B-9397-08002B2CF9AE}" pid="8" name="_IPGFLOW_P-C5B9_E-1_FP-2_SP-1_CV-973C8F93_CN-DA2D97CB">
    <vt:lpwstr>S2piJDCgo2t+OL7lWZKird+cTtH6om5kMMrCOVjHDEVuAFQ7ey9iJUuivGxEk+01MLMvHGwip4F9FeTeg1he28sfqMhvQ2lfCUSYFtMBgUSu3iRgLaYdWwP5IpfKtAUpzlQQhLvzs/8fkbMu1x/CeQOzMTe+ErC7O/jPoWWzOBhvVZXKkDg4RKy41F72SaEBViYY17SJtnXXAeRYphU2DhReltdvr6yPDpmf8Pf5BEzDRHxhPBElvp1BofwKpI+</vt:lpwstr>
  </op:property>
  <op:property fmtid="{D5CDD505-2E9C-101B-9397-08002B2CF9AE}" pid="9" name="_IPGFLOW_P-C5B9_E-1_FP-2_SP-2_CV-34C099EC_CN-46016540">
    <vt:lpwstr>L46Gyug/sANSFZ5nvTlTdU9aCcUHjwFy/B0QJHhSpYX/+xe+e9fu2fVnffjzgR9MrsOlZ2F3TUVgroJAA7aup+pXJkVmMQ+ZQ7PCtoGF6qnUhJWlbvpiXFv8XAckGjLRz</vt:lpwstr>
  </op:property>
  <op:property fmtid="{D5CDD505-2E9C-101B-9397-08002B2CF9AE}" pid="10" name="_IPGFLOW_P-C5B9_E-0_FP-2_CV-1748F583_CN-5E0BA8F9">
    <vt:lpwstr>DPSPMK|3|384|2|0</vt:lpwstr>
  </op:property>
  <op:property fmtid="{D5CDD505-2E9C-101B-9397-08002B2CF9AE}" pid="11" name="_IPGFLOW_P-C5B9_E-0_CV-8BD6D882_CN-44E8237F">
    <vt:lpwstr>DPFPMK|3|50|3|0</vt:lpwstr>
  </op:property>
  <op:property fmtid="{D5CDD505-2E9C-101B-9397-08002B2CF9AE}" pid="12" name="_IPGFLOW_P-C5B9_E-1_FP-3_SP-1_CV-B0456298_CN-4E80D982">
    <vt:lpwstr>S2piJDCgo2t+OL7lWZKirREnZwGBTOA8C27HSPhS3FHFNzh7+wPntnRC0OUTwseI6sCuggi9QodThK4MQr1NJEiWRjSxoanf16ykRVV854UFDD2q+TVOxEH4BNcq6ONYq13m7rOwOXeqqOoan7tFtS5yk69993x8gdtPK45qHfuY6nHdRbXCXSThxm603wYHCSXyLjam0nTKmq7CiZh6O6Z7wkZd0AMIBBR/rpQtfaNBv2Yqmy0zwKoK5FAB6Bv</vt:lpwstr>
  </op:property>
  <op:property fmtid="{D5CDD505-2E9C-101B-9397-08002B2CF9AE}" pid="13" name="_IPGFLOW_P-C5B9_E-1_FP-3_SP-2_CV-7006A89_CN-E9A14F1">
    <vt:lpwstr>QlUniJNmMleb0sJ8YByQ5eyLlvKVCGAYmWLEr8F8x1miroUaJjoiO3jxUk5UCqnorc7EUSvwNWi1xco8TuRBEwbN/YPFNCjPcVAJg1cXqeVN49X5kYWpF5iB0fWfHt2cg</vt:lpwstr>
  </op:property>
  <op:property fmtid="{D5CDD505-2E9C-101B-9397-08002B2CF9AE}" pid="14" name="_IPGFLOW_P-C5B9_E-0_FP-3_CV-1748F583_CN-839D717C">
    <vt:lpwstr>DPSPMK|3|384|2|0</vt:lpwstr>
  </op:property>
  <op:property fmtid="{D5CDD505-2E9C-101B-9397-08002B2CF9AE}" pid="15" name="_IPGLAB_P-C5B9_E-1_CV-84547438_CN-1BD50A63">
    <vt:lpwstr>wz3ddG+dZ/l5QF0esmzmuIijrSDka+0dgKGSIstC0qS2ydbza3WXQgm4FnqPhrOlYV8QIsRb3VUS7k+PDE01anSzMxTv9X43pNOFr3GNryD/No6h9L6vSlXXRepotN8qYCNRlqD1sdF1fhGaWIM5yQ==</vt:lpwstr>
  </op:property>
</op:Properties>
</file>